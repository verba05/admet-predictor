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embeddedFontLst>
    <p:embeddedFont>
      <p:font typeface="Roboto Mono" panose="020F0502020204030204" pitchFamily="49"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802"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d2627f4cc2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d2627f4cc2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d2627f4cc2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d2627f4cc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d2627f4cc2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2627f4cc2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e81138d02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e81138d02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d2627f4cc2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d2627f4cc2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d917a06c26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d917a06c26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e4463c2ee8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e4463c2ee8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e47a80ab4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e47a80ab4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e81138d022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e81138d02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d2627f4cc2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d2627f4cc2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88567a08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88567a08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88567a088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a88567a08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e48813df5e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e48813df5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88567a08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a88567a08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4463c2ee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e4463c2ee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e4fd25fe9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e4fd25fe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81138d022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e81138d02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e48813df5e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e48813df5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e47a80ab4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e47a80ab4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e81138d022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e81138d022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e48813df5e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e48813df5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dabf82c1f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dabf82c1f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e81138d022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e81138d022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e57a3f47b2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e57a3f47b2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e57a3f47b2_1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e57a3f47b2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e57a3f47b2_1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e57a3f47b2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e57a3f47b2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e57a3f47b2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e57a3f47b2_1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e57a3f47b2_1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e57a3f47b2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e57a3f47b2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e57a3f47b2_1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e57a3f47b2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e902a9c779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e902a9c77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d7ff1c82f3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d7ff1c82f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pl"/>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71075" y="1936731"/>
            <a:ext cx="8520600" cy="1173300"/>
          </a:xfrm>
          <a:prstGeom prst="rect">
            <a:avLst/>
          </a:prstGeom>
        </p:spPr>
        <p:txBody>
          <a:bodyPr spcFirstLastPara="1" wrap="square" lIns="91425" tIns="91425" rIns="91425" bIns="91425" anchor="b" anchorCtr="0">
            <a:normAutofit fontScale="90000"/>
          </a:bodyPr>
          <a:lstStyle/>
          <a:p>
            <a:pPr marL="0" lvl="0" indent="0" algn="ctr" rtl="0">
              <a:lnSpc>
                <a:spcPct val="115833"/>
              </a:lnSpc>
              <a:spcBef>
                <a:spcPts val="0"/>
              </a:spcBef>
              <a:spcAft>
                <a:spcPts val="800"/>
              </a:spcAft>
              <a:buClr>
                <a:schemeClr val="dk1"/>
              </a:buClr>
              <a:buSzPct val="34375"/>
              <a:buFont typeface="Arial"/>
              <a:buNone/>
            </a:pPr>
            <a:r>
              <a:rPr lang="pl" sz="3200" b="1">
                <a:latin typeface="Times New Roman"/>
                <a:ea typeface="Times New Roman"/>
                <a:cs typeface="Times New Roman"/>
                <a:sym typeface="Times New Roman"/>
              </a:rPr>
              <a:t>Predykcja profilu ADMET z wykorzystaniem multi-task learning </a:t>
            </a:r>
            <a:endParaRPr sz="6700" b="1"/>
          </a:p>
        </p:txBody>
      </p:sp>
      <p:sp>
        <p:nvSpPr>
          <p:cNvPr id="55" name="Google Shape;55;p13"/>
          <p:cNvSpPr txBox="1">
            <a:spLocks noGrp="1"/>
          </p:cNvSpPr>
          <p:nvPr>
            <p:ph type="subTitle" idx="1"/>
          </p:nvPr>
        </p:nvSpPr>
        <p:spPr>
          <a:xfrm>
            <a:off x="2726375" y="3767750"/>
            <a:ext cx="3810000" cy="792600"/>
          </a:xfrm>
          <a:prstGeom prst="rect">
            <a:avLst/>
          </a:prstGeom>
        </p:spPr>
        <p:txBody>
          <a:bodyPr spcFirstLastPara="1" wrap="square" lIns="91425" tIns="91425" rIns="91425" bIns="91425" anchor="t" anchorCtr="0">
            <a:normAutofit/>
          </a:bodyPr>
          <a:lstStyle/>
          <a:p>
            <a:pPr marL="0" lvl="0" indent="0" algn="just" rtl="0">
              <a:lnSpc>
                <a:spcPct val="115833"/>
              </a:lnSpc>
              <a:spcBef>
                <a:spcPts val="0"/>
              </a:spcBef>
              <a:spcAft>
                <a:spcPts val="1800"/>
              </a:spcAft>
              <a:buClr>
                <a:schemeClr val="dk1"/>
              </a:buClr>
              <a:buSzPts val="1100"/>
              <a:buFont typeface="Arial"/>
              <a:buNone/>
            </a:pPr>
            <a:r>
              <a:rPr lang="pl" sz="1400">
                <a:solidFill>
                  <a:schemeClr val="dk1"/>
                </a:solidFill>
                <a:latin typeface="Times New Roman"/>
                <a:ea typeface="Times New Roman"/>
                <a:cs typeface="Times New Roman"/>
                <a:sym typeface="Times New Roman"/>
              </a:rPr>
              <a:t>Jakub Cieniuch, Laura Musioł, Ivan Verbovetskyi</a:t>
            </a:r>
            <a:endParaRPr sz="3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55440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400"/>
              </a:spcAft>
              <a:buNone/>
            </a:pPr>
            <a:r>
              <a:rPr lang="pl" b="1"/>
              <a:t>ADMET: Klucz do sukcesu w projektowaniu leków </a:t>
            </a:r>
            <a:endParaRPr sz="3200" b="1"/>
          </a:p>
        </p:txBody>
      </p:sp>
      <p:sp>
        <p:nvSpPr>
          <p:cNvPr id="61" name="Google Shape;61;p14"/>
          <p:cNvSpPr txBox="1">
            <a:spLocks noGrp="1"/>
          </p:cNvSpPr>
          <p:nvPr>
            <p:ph type="body" idx="1"/>
          </p:nvPr>
        </p:nvSpPr>
        <p:spPr>
          <a:xfrm>
            <a:off x="311700" y="1220976"/>
            <a:ext cx="8520600" cy="3416400"/>
          </a:xfrm>
          <a:prstGeom prst="rect">
            <a:avLst/>
          </a:prstGeom>
        </p:spPr>
        <p:txBody>
          <a:bodyPr spcFirstLastPara="1" wrap="square" lIns="91425" tIns="91425" rIns="91425" bIns="91425" anchor="t" anchorCtr="0">
            <a:noAutofit/>
          </a:bodyPr>
          <a:lstStyle/>
          <a:p>
            <a:pPr marL="457200" lvl="0" indent="-323850" algn="l" rtl="0">
              <a:spcBef>
                <a:spcPts val="1200"/>
              </a:spcBef>
              <a:spcAft>
                <a:spcPts val="0"/>
              </a:spcAft>
              <a:buClr>
                <a:schemeClr val="dk1"/>
              </a:buClr>
              <a:buSzPts val="1500"/>
              <a:buChar char="●"/>
            </a:pPr>
            <a:r>
              <a:rPr lang="pl" sz="1500">
                <a:solidFill>
                  <a:schemeClr val="dk1"/>
                </a:solidFill>
              </a:rPr>
              <a:t>Profil </a:t>
            </a:r>
            <a:r>
              <a:rPr lang="pl" sz="1500" b="1">
                <a:solidFill>
                  <a:schemeClr val="dk1"/>
                </a:solidFill>
              </a:rPr>
              <a:t>ADMET</a:t>
            </a:r>
            <a:r>
              <a:rPr lang="pl" sz="1500">
                <a:solidFill>
                  <a:schemeClr val="dk1"/>
                </a:solidFill>
              </a:rPr>
              <a:t> (</a:t>
            </a:r>
            <a:r>
              <a:rPr lang="pl" sz="1500" b="1">
                <a:solidFill>
                  <a:schemeClr val="dk1"/>
                </a:solidFill>
              </a:rPr>
              <a:t>A</a:t>
            </a:r>
            <a:r>
              <a:rPr lang="pl" sz="1500">
                <a:solidFill>
                  <a:schemeClr val="dk1"/>
                </a:solidFill>
              </a:rPr>
              <a:t>bsorption, </a:t>
            </a:r>
            <a:r>
              <a:rPr lang="pl" sz="1500" b="1">
                <a:solidFill>
                  <a:schemeClr val="dk1"/>
                </a:solidFill>
              </a:rPr>
              <a:t>D</a:t>
            </a:r>
            <a:r>
              <a:rPr lang="pl" sz="1500">
                <a:solidFill>
                  <a:schemeClr val="dk1"/>
                </a:solidFill>
              </a:rPr>
              <a:t>istribution, </a:t>
            </a:r>
            <a:r>
              <a:rPr lang="pl" sz="1500" b="1">
                <a:solidFill>
                  <a:schemeClr val="dk1"/>
                </a:solidFill>
              </a:rPr>
              <a:t>M</a:t>
            </a:r>
            <a:r>
              <a:rPr lang="pl" sz="1500">
                <a:solidFill>
                  <a:schemeClr val="dk1"/>
                </a:solidFill>
              </a:rPr>
              <a:t>etabolism, </a:t>
            </a:r>
            <a:r>
              <a:rPr lang="pl" sz="1500" b="1">
                <a:solidFill>
                  <a:schemeClr val="dk1"/>
                </a:solidFill>
              </a:rPr>
              <a:t>E</a:t>
            </a:r>
            <a:r>
              <a:rPr lang="pl" sz="1500">
                <a:solidFill>
                  <a:schemeClr val="dk1"/>
                </a:solidFill>
              </a:rPr>
              <a:t>xcretion, </a:t>
            </a:r>
            <a:r>
              <a:rPr lang="pl" sz="1500" b="1">
                <a:solidFill>
                  <a:schemeClr val="dk1"/>
                </a:solidFill>
              </a:rPr>
              <a:t>T</a:t>
            </a:r>
            <a:r>
              <a:rPr lang="pl" sz="1500">
                <a:solidFill>
                  <a:schemeClr val="dk1"/>
                </a:solidFill>
              </a:rPr>
              <a:t>oxicity) to fundament nowoczesnej farmakologii, opisujący pełny cykl życia cząsteczki w organizmie – od jej wchłonięcia do krwi i dystrybucji do tkanek, przez przemiany metaboliczne w wątrobie, aż po wydalenie i ocenę bezpieczeństwa (toksyczności).</a:t>
            </a:r>
            <a:endParaRPr sz="1500">
              <a:solidFill>
                <a:schemeClr val="dk1"/>
              </a:solidFill>
            </a:endParaRPr>
          </a:p>
          <a:p>
            <a:pPr marL="457200" lvl="0" indent="-323850" algn="l" rtl="0">
              <a:spcBef>
                <a:spcPts val="1200"/>
              </a:spcBef>
              <a:spcAft>
                <a:spcPts val="0"/>
              </a:spcAft>
              <a:buClr>
                <a:schemeClr val="dk1"/>
              </a:buClr>
              <a:buSzPts val="1500"/>
              <a:buChar char="●"/>
            </a:pPr>
            <a:r>
              <a:rPr lang="pl" sz="1500">
                <a:solidFill>
                  <a:schemeClr val="dk1"/>
                </a:solidFill>
              </a:rPr>
              <a:t>Parametry te determinują </a:t>
            </a:r>
            <a:r>
              <a:rPr lang="pl" sz="1500" b="1">
                <a:solidFill>
                  <a:schemeClr val="dk1"/>
                </a:solidFill>
              </a:rPr>
              <a:t>skuteczność terapeutyczną</a:t>
            </a:r>
            <a:r>
              <a:rPr lang="pl" sz="1500">
                <a:solidFill>
                  <a:schemeClr val="dk1"/>
                </a:solidFill>
              </a:rPr>
              <a:t> (czy lek dotrze do celu w odpowiednim stężeniu) oraz </a:t>
            </a:r>
            <a:r>
              <a:rPr lang="pl" sz="1500" b="1">
                <a:solidFill>
                  <a:schemeClr val="dk1"/>
                </a:solidFill>
              </a:rPr>
              <a:t>bezpieczeństwo pacjenta</a:t>
            </a:r>
            <a:r>
              <a:rPr lang="pl" sz="1500">
                <a:solidFill>
                  <a:schemeClr val="dk1"/>
                </a:solidFill>
              </a:rPr>
              <a:t>. Wykorzystanie metod komputerowych (</a:t>
            </a:r>
            <a:r>
              <a:rPr lang="pl" sz="1500" i="1">
                <a:solidFill>
                  <a:schemeClr val="dk1"/>
                </a:solidFill>
              </a:rPr>
              <a:t>in silico</a:t>
            </a:r>
            <a:r>
              <a:rPr lang="pl" sz="1500">
                <a:solidFill>
                  <a:schemeClr val="dk1"/>
                </a:solidFill>
              </a:rPr>
              <a:t>) do przewidywania profilu ADMET na wczesnym etapie badań pozwala na szybszą eliminację ryzykownych związków. Dzięki temu proces tworzenia leku staje się tańszy i szybszy, chroniąc zasoby przed kosztownymi niepowodzeniami w fazie testów klinicznych.</a:t>
            </a:r>
            <a:endParaRPr sz="1500">
              <a:solidFill>
                <a:schemeClr val="dk1"/>
              </a:solidFill>
            </a:endParaRPr>
          </a:p>
          <a:p>
            <a:pPr marL="0" lvl="0" indent="0" algn="l" rtl="0">
              <a:spcBef>
                <a:spcPts val="1000"/>
              </a:spcBef>
              <a:spcAft>
                <a:spcPts val="1000"/>
              </a:spcAft>
              <a:buClr>
                <a:schemeClr val="dk1"/>
              </a:buClr>
              <a:buSzPts val="1100"/>
              <a:buFont typeface="Arial"/>
              <a:buNone/>
            </a:pPr>
            <a:endParaRPr sz="1500" b="1">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39436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Cel projektu</a:t>
            </a:r>
            <a:endParaRPr b="1"/>
          </a:p>
        </p:txBody>
      </p:sp>
      <p:sp>
        <p:nvSpPr>
          <p:cNvPr id="67" name="Google Shape;67;p15"/>
          <p:cNvSpPr txBox="1">
            <a:spLocks noGrp="1"/>
          </p:cNvSpPr>
          <p:nvPr>
            <p:ph type="body" idx="1"/>
          </p:nvPr>
        </p:nvSpPr>
        <p:spPr>
          <a:xfrm>
            <a:off x="311700" y="1041012"/>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l" sz="1600">
                <a:solidFill>
                  <a:schemeClr val="dk1"/>
                </a:solidFill>
              </a:rPr>
              <a:t>Głównym celem projektu jest zbudowanie modelu predykcyjnego, który potrafi jednocześnie przewidywać wiele parametrów profilu </a:t>
            </a:r>
            <a:r>
              <a:rPr lang="pl" sz="1600" b="1">
                <a:solidFill>
                  <a:schemeClr val="dk1"/>
                </a:solidFill>
              </a:rPr>
              <a:t>ADMET</a:t>
            </a:r>
            <a:r>
              <a:rPr lang="pl" sz="1600">
                <a:solidFill>
                  <a:schemeClr val="dk1"/>
                </a:solidFill>
              </a:rPr>
              <a:t> przy użyciu podejścia </a:t>
            </a:r>
            <a:r>
              <a:rPr lang="pl" sz="1600" b="1">
                <a:solidFill>
                  <a:schemeClr val="dk1"/>
                </a:solidFill>
              </a:rPr>
              <a:t>Multi-Task Learning (MTL)</a:t>
            </a:r>
            <a:r>
              <a:rPr lang="pl" sz="1600">
                <a:solidFill>
                  <a:schemeClr val="dk1"/>
                </a:solidFill>
              </a:rPr>
              <a:t>. Poddamy weryfikacji następujące założenia: </a:t>
            </a:r>
            <a:endParaRPr sz="1600">
              <a:solidFill>
                <a:schemeClr val="dk1"/>
              </a:solidFill>
            </a:endParaRPr>
          </a:p>
          <a:p>
            <a:pPr marL="0" lvl="0" indent="0" algn="l" rtl="0">
              <a:spcBef>
                <a:spcPts val="0"/>
              </a:spcBef>
              <a:spcAft>
                <a:spcPts val="0"/>
              </a:spcAft>
              <a:buNone/>
            </a:pPr>
            <a:endParaRPr sz="1600">
              <a:solidFill>
                <a:schemeClr val="dk1"/>
              </a:solidFill>
            </a:endParaRPr>
          </a:p>
          <a:p>
            <a:pPr marL="457200" lvl="0" indent="-330200" algn="l" rtl="0">
              <a:spcBef>
                <a:spcPts val="0"/>
              </a:spcBef>
              <a:spcAft>
                <a:spcPts val="0"/>
              </a:spcAft>
              <a:buClr>
                <a:schemeClr val="dk1"/>
              </a:buClr>
              <a:buSzPts val="1600"/>
              <a:buChar char="●"/>
            </a:pPr>
            <a:r>
              <a:rPr lang="pl" sz="1600" b="1">
                <a:solidFill>
                  <a:schemeClr val="dk1"/>
                </a:solidFill>
              </a:rPr>
              <a:t>Hipoteza 1: Przewaga uczenia wielozadaniowego (MTL) nad modelami jednostkowymi (Single-Task Learning)</a:t>
            </a:r>
            <a:endParaRPr sz="1600" b="1">
              <a:solidFill>
                <a:schemeClr val="dk1"/>
              </a:solidFill>
            </a:endParaRPr>
          </a:p>
          <a:p>
            <a:pPr marL="457200" lvl="0" indent="-330200" algn="l" rtl="0">
              <a:spcBef>
                <a:spcPts val="0"/>
              </a:spcBef>
              <a:spcAft>
                <a:spcPts val="0"/>
              </a:spcAft>
              <a:buClr>
                <a:schemeClr val="dk1"/>
              </a:buClr>
              <a:buSzPts val="1600"/>
              <a:buChar char="●"/>
            </a:pPr>
            <a:r>
              <a:rPr lang="pl" sz="1600" b="1">
                <a:solidFill>
                  <a:schemeClr val="dk1"/>
                </a:solidFill>
              </a:rPr>
              <a:t>Hipoteza 2: Transfer wiedzy między powiązanymi biologicznie parametrami</a:t>
            </a:r>
            <a:r>
              <a:rPr lang="pl" sz="1600">
                <a:solidFill>
                  <a:schemeClr val="dk1"/>
                </a:solidFill>
              </a:rPr>
              <a:t> </a:t>
            </a:r>
            <a:endParaRPr sz="1600">
              <a:solidFill>
                <a:schemeClr val="dk1"/>
              </a:solidFill>
            </a:endParaRPr>
          </a:p>
          <a:p>
            <a:pPr marL="457200" lvl="0" indent="-330200" algn="l" rtl="0">
              <a:spcBef>
                <a:spcPts val="0"/>
              </a:spcBef>
              <a:spcAft>
                <a:spcPts val="0"/>
              </a:spcAft>
              <a:buClr>
                <a:schemeClr val="dk1"/>
              </a:buClr>
              <a:buSzPts val="1600"/>
              <a:buChar char="●"/>
            </a:pPr>
            <a:r>
              <a:rPr lang="pl" sz="1600" b="1">
                <a:solidFill>
                  <a:schemeClr val="dk1"/>
                </a:solidFill>
              </a:rPr>
              <a:t>Hipoteza 3: Wpływ reprezentacji molekularnej na precyzję predykcji</a:t>
            </a:r>
            <a:r>
              <a:rPr lang="pl" sz="1600">
                <a:solidFill>
                  <a:schemeClr val="dk1"/>
                </a:solidFill>
              </a:rPr>
              <a:t> (fingerprinty vs deskryptory vs embedding) </a:t>
            </a:r>
            <a:endParaRPr sz="1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33461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Opis zbiorów danych</a:t>
            </a:r>
            <a:endParaRPr b="1"/>
          </a:p>
        </p:txBody>
      </p:sp>
      <p:sp>
        <p:nvSpPr>
          <p:cNvPr id="73" name="Google Shape;73;p16"/>
          <p:cNvSpPr txBox="1">
            <a:spLocks noGrp="1"/>
          </p:cNvSpPr>
          <p:nvPr>
            <p:ph type="body" idx="1"/>
          </p:nvPr>
        </p:nvSpPr>
        <p:spPr>
          <a:xfrm>
            <a:off x="223950" y="1055250"/>
            <a:ext cx="6231300" cy="3416400"/>
          </a:xfrm>
          <a:prstGeom prst="rect">
            <a:avLst/>
          </a:prstGeom>
        </p:spPr>
        <p:txBody>
          <a:bodyPr spcFirstLastPara="1" wrap="square" lIns="91425" tIns="91425" rIns="91425" bIns="91425" anchor="t" anchorCtr="0">
            <a:normAutofit/>
          </a:bodyPr>
          <a:lstStyle/>
          <a:p>
            <a:pPr marL="457200" lvl="0" indent="-330200" algn="l" rtl="0">
              <a:spcBef>
                <a:spcPts val="1000"/>
              </a:spcBef>
              <a:spcAft>
                <a:spcPts val="0"/>
              </a:spcAft>
              <a:buClr>
                <a:schemeClr val="dk1"/>
              </a:buClr>
              <a:buSzPts val="1600"/>
              <a:buChar char="●"/>
            </a:pPr>
            <a:r>
              <a:rPr lang="pl" sz="1600">
                <a:solidFill>
                  <a:schemeClr val="dk1"/>
                </a:solidFill>
              </a:rPr>
              <a:t>W ramach projektu wykorzystaliśmy zbiory danych z </a:t>
            </a:r>
            <a:r>
              <a:rPr lang="pl" sz="1600" b="1">
                <a:solidFill>
                  <a:schemeClr val="dk1"/>
                </a:solidFill>
              </a:rPr>
              <a:t>benchmarku TDC</a:t>
            </a:r>
            <a:r>
              <a:rPr lang="pl" sz="1600">
                <a:solidFill>
                  <a:schemeClr val="dk1"/>
                </a:solidFill>
              </a:rPr>
              <a:t>, obejmujące kluczowe parametry profilu ADMET. Dane zostanły pobrane przy użyciu biblioteki PyTDC.</a:t>
            </a:r>
            <a:endParaRPr sz="1600">
              <a:solidFill>
                <a:schemeClr val="dk1"/>
              </a:solidFill>
            </a:endParaRPr>
          </a:p>
          <a:p>
            <a:pPr marL="457200" lvl="0" indent="-330200" algn="l" rtl="0">
              <a:spcBef>
                <a:spcPts val="1000"/>
              </a:spcBef>
              <a:spcAft>
                <a:spcPts val="0"/>
              </a:spcAft>
              <a:buClr>
                <a:schemeClr val="dk1"/>
              </a:buClr>
              <a:buSzPts val="1600"/>
              <a:buChar char="●"/>
            </a:pPr>
            <a:r>
              <a:rPr lang="pl" sz="1600">
                <a:solidFill>
                  <a:schemeClr val="dk1"/>
                </a:solidFill>
              </a:rPr>
              <a:t>Do naszych testów wybraliśmy </a:t>
            </a:r>
            <a:r>
              <a:rPr lang="pl" sz="1600" b="1">
                <a:solidFill>
                  <a:schemeClr val="dk1"/>
                </a:solidFill>
              </a:rPr>
              <a:t>10 endpointów</a:t>
            </a:r>
            <a:r>
              <a:rPr lang="pl" sz="1600">
                <a:solidFill>
                  <a:schemeClr val="dk1"/>
                </a:solidFill>
              </a:rPr>
              <a:t> i utworzyliśmy z nich </a:t>
            </a:r>
            <a:r>
              <a:rPr lang="pl" sz="1600" b="1">
                <a:solidFill>
                  <a:schemeClr val="dk1"/>
                </a:solidFill>
              </a:rPr>
              <a:t>3 zestawy</a:t>
            </a:r>
            <a:r>
              <a:rPr lang="pl" sz="1600">
                <a:solidFill>
                  <a:schemeClr val="dk1"/>
                </a:solidFill>
              </a:rPr>
              <a:t> związane z różnymi własnościami.</a:t>
            </a:r>
            <a:endParaRPr sz="1600">
              <a:solidFill>
                <a:schemeClr val="dk1"/>
              </a:solidFill>
            </a:endParaRPr>
          </a:p>
          <a:p>
            <a:pPr marL="457200" lvl="0" indent="-330200" algn="l" rtl="0">
              <a:spcBef>
                <a:spcPts val="1000"/>
              </a:spcBef>
              <a:spcAft>
                <a:spcPts val="0"/>
              </a:spcAft>
              <a:buClr>
                <a:schemeClr val="dk1"/>
              </a:buClr>
              <a:buSzPts val="1600"/>
              <a:buChar char="●"/>
            </a:pPr>
            <a:r>
              <a:rPr lang="pl" sz="1600">
                <a:solidFill>
                  <a:schemeClr val="dk1"/>
                </a:solidFill>
              </a:rPr>
              <a:t>Wybrane zestawy danych zostały dobrane tak, aby reprezentowały zróżnicowane zadania: regresję, klasyfikację, zbiory o różnych licznościach danych.</a:t>
            </a:r>
            <a:endParaRPr sz="1600">
              <a:solidFill>
                <a:schemeClr val="dk1"/>
              </a:solidFill>
            </a:endParaRPr>
          </a:p>
        </p:txBody>
      </p:sp>
      <p:sp>
        <p:nvSpPr>
          <p:cNvPr id="74" name="Google Shape;74;p16"/>
          <p:cNvSpPr txBox="1"/>
          <p:nvPr/>
        </p:nvSpPr>
        <p:spPr>
          <a:xfrm>
            <a:off x="6742375" y="907309"/>
            <a:ext cx="2337900" cy="4366500"/>
          </a:xfrm>
          <a:prstGeom prst="rect">
            <a:avLst/>
          </a:prstGeom>
          <a:no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Wybrane endpointy: </a:t>
            </a: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1. Caco-2 (Wang)</a:t>
            </a: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2. Lipophilicity (AstraZeneca)</a:t>
            </a: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3. Solubility (AqSolDB)</a:t>
            </a: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4. HIA (Hou)</a:t>
            </a: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5. Half Life (Obach)</a:t>
            </a: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6. Clearance Hepatocyte (AstraZeneca)</a:t>
            </a: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7. CYP3A4 Inhibition (Veith)</a:t>
            </a: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8. VDss (Lombardo)</a:t>
            </a: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9. AMES Mutagenicity</a:t>
            </a:r>
            <a:endParaRPr sz="1200" b="1">
              <a:solidFill>
                <a:schemeClr val="dk1"/>
              </a:solidFill>
            </a:endParaRPr>
          </a:p>
          <a:p>
            <a:pPr marL="0" lvl="0" indent="0" algn="l" rtl="0">
              <a:lnSpc>
                <a:spcPct val="135714"/>
              </a:lnSpc>
              <a:spcBef>
                <a:spcPts val="0"/>
              </a:spcBef>
              <a:spcAft>
                <a:spcPts val="0"/>
              </a:spcAft>
              <a:buClr>
                <a:schemeClr val="dk1"/>
              </a:buClr>
              <a:buSzPts val="1100"/>
              <a:buFont typeface="Arial"/>
              <a:buNone/>
            </a:pPr>
            <a:r>
              <a:rPr lang="pl" sz="1200" b="1">
                <a:solidFill>
                  <a:schemeClr val="dk1"/>
                </a:solidFill>
              </a:rPr>
              <a:t>10. hERG (Wang)</a:t>
            </a:r>
            <a:endParaRPr sz="1200" b="1">
              <a:solidFill>
                <a:schemeClr val="dk1"/>
              </a:solidFill>
            </a:endParaRPr>
          </a:p>
          <a:p>
            <a:pPr marL="0" lvl="0" indent="0" algn="l" rtl="0">
              <a:spcBef>
                <a:spcPts val="0"/>
              </a:spcBef>
              <a:spcAft>
                <a:spcPts val="0"/>
              </a:spcAft>
              <a:buNone/>
            </a:pPr>
            <a:endParaRPr sz="1200"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body" idx="1"/>
          </p:nvPr>
        </p:nvSpPr>
        <p:spPr>
          <a:xfrm>
            <a:off x="183725" y="288575"/>
            <a:ext cx="8520600" cy="34164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Clr>
                <a:schemeClr val="dk1"/>
              </a:buClr>
              <a:buSzPts val="1018"/>
              <a:buFont typeface="Arial"/>
              <a:buNone/>
            </a:pPr>
            <a:r>
              <a:rPr lang="pl" sz="1418" b="1">
                <a:solidFill>
                  <a:schemeClr val="dk1"/>
                </a:solidFill>
              </a:rPr>
              <a:t>Zestaw 1: Absorpcja (Wchłanianie)</a:t>
            </a:r>
            <a:endParaRPr sz="1418" b="1">
              <a:solidFill>
                <a:schemeClr val="dk1"/>
              </a:solidFill>
            </a:endParaRPr>
          </a:p>
          <a:p>
            <a:pPr marL="457200" lvl="0" indent="-318611" algn="l" rtl="0">
              <a:lnSpc>
                <a:spcPct val="105000"/>
              </a:lnSpc>
              <a:spcBef>
                <a:spcPts val="0"/>
              </a:spcBef>
              <a:spcAft>
                <a:spcPts val="0"/>
              </a:spcAft>
              <a:buClr>
                <a:schemeClr val="dk1"/>
              </a:buClr>
              <a:buSzPts val="1418"/>
              <a:buChar char="●"/>
            </a:pPr>
            <a:r>
              <a:rPr lang="pl" sz="1418" b="1">
                <a:solidFill>
                  <a:schemeClr val="dk1"/>
                </a:solidFill>
              </a:rPr>
              <a:t>Proces:</a:t>
            </a:r>
            <a:r>
              <a:rPr lang="pl" sz="1418">
                <a:solidFill>
                  <a:schemeClr val="dk1"/>
                </a:solidFill>
              </a:rPr>
              <a:t> Przenikanie leku z przewodu pokarmowego do krwioobiegu. </a:t>
            </a:r>
            <a:br>
              <a:rPr lang="pl" sz="1418">
                <a:solidFill>
                  <a:schemeClr val="dk1"/>
                </a:solidFill>
              </a:rPr>
            </a:br>
            <a:r>
              <a:rPr lang="pl" sz="1418">
                <a:solidFill>
                  <a:schemeClr val="dk1"/>
                </a:solidFill>
              </a:rPr>
              <a:t>Wymaga rozpuszczenia w płynach i przejścia przez błony (lipofilowość).</a:t>
            </a:r>
            <a:endParaRPr sz="1418">
              <a:solidFill>
                <a:schemeClr val="dk1"/>
              </a:solidFill>
            </a:endParaRPr>
          </a:p>
          <a:p>
            <a:pPr marL="457200" lvl="0" indent="-318611" algn="l" rtl="0">
              <a:lnSpc>
                <a:spcPct val="105000"/>
              </a:lnSpc>
              <a:spcBef>
                <a:spcPts val="0"/>
              </a:spcBef>
              <a:spcAft>
                <a:spcPts val="0"/>
              </a:spcAft>
              <a:buClr>
                <a:schemeClr val="dk1"/>
              </a:buClr>
              <a:buSzPts val="1418"/>
              <a:buChar char="●"/>
            </a:pPr>
            <a:r>
              <a:rPr lang="pl" sz="1418" b="1">
                <a:solidFill>
                  <a:schemeClr val="dk1"/>
                </a:solidFill>
              </a:rPr>
              <a:t>Endpointy:</a:t>
            </a:r>
            <a:r>
              <a:rPr lang="pl" sz="1418">
                <a:solidFill>
                  <a:schemeClr val="dk1"/>
                </a:solidFill>
              </a:rPr>
              <a:t> </a:t>
            </a:r>
            <a:r>
              <a:rPr lang="pl" sz="1418" b="1">
                <a:solidFill>
                  <a:schemeClr val="dk1"/>
                </a:solidFill>
              </a:rPr>
              <a:t>Caco-2</a:t>
            </a:r>
            <a:r>
              <a:rPr lang="pl" sz="1418">
                <a:solidFill>
                  <a:schemeClr val="dk1"/>
                </a:solidFill>
              </a:rPr>
              <a:t> (przepuszczalność jelitowa), </a:t>
            </a:r>
            <a:r>
              <a:rPr lang="pl" sz="1418" b="1">
                <a:solidFill>
                  <a:schemeClr val="dk1"/>
                </a:solidFill>
              </a:rPr>
              <a:t>HIA</a:t>
            </a:r>
            <a:r>
              <a:rPr lang="pl" sz="1418">
                <a:solidFill>
                  <a:schemeClr val="dk1"/>
                </a:solidFill>
              </a:rPr>
              <a:t> (rzeczywiste wchłanianie u człowieka), </a:t>
            </a:r>
            <a:r>
              <a:rPr lang="pl" sz="1418" b="1">
                <a:solidFill>
                  <a:schemeClr val="dk1"/>
                </a:solidFill>
              </a:rPr>
              <a:t>Solubility</a:t>
            </a:r>
            <a:r>
              <a:rPr lang="pl" sz="1418">
                <a:solidFill>
                  <a:schemeClr val="dk1"/>
                </a:solidFill>
              </a:rPr>
              <a:t> (rozpuszczalność wodna), </a:t>
            </a:r>
            <a:r>
              <a:rPr lang="pl" sz="1418" b="1">
                <a:solidFill>
                  <a:schemeClr val="dk1"/>
                </a:solidFill>
              </a:rPr>
              <a:t>Lipophilicity</a:t>
            </a:r>
            <a:r>
              <a:rPr lang="pl" sz="1418">
                <a:solidFill>
                  <a:schemeClr val="dk1"/>
                </a:solidFill>
              </a:rPr>
              <a:t> (lipofilowość).</a:t>
            </a:r>
            <a:endParaRPr sz="1418">
              <a:solidFill>
                <a:schemeClr val="dk1"/>
              </a:solidFill>
            </a:endParaRPr>
          </a:p>
          <a:p>
            <a:pPr marL="0" lvl="0" indent="0" algn="l" rtl="0">
              <a:lnSpc>
                <a:spcPct val="105000"/>
              </a:lnSpc>
              <a:spcBef>
                <a:spcPts val="1200"/>
              </a:spcBef>
              <a:spcAft>
                <a:spcPts val="0"/>
              </a:spcAft>
              <a:buClr>
                <a:schemeClr val="dk1"/>
              </a:buClr>
              <a:buSzPts val="1018"/>
              <a:buFont typeface="Arial"/>
              <a:buNone/>
            </a:pPr>
            <a:r>
              <a:rPr lang="pl" sz="1418" b="1">
                <a:solidFill>
                  <a:schemeClr val="dk1"/>
                </a:solidFill>
              </a:rPr>
              <a:t>Zestaw 2: Eliminacja</a:t>
            </a:r>
            <a:endParaRPr sz="1418" b="1">
              <a:solidFill>
                <a:schemeClr val="dk1"/>
              </a:solidFill>
            </a:endParaRPr>
          </a:p>
          <a:p>
            <a:pPr marL="457200" lvl="0" indent="-318611" algn="l" rtl="0">
              <a:lnSpc>
                <a:spcPct val="105000"/>
              </a:lnSpc>
              <a:spcBef>
                <a:spcPts val="0"/>
              </a:spcBef>
              <a:spcAft>
                <a:spcPts val="0"/>
              </a:spcAft>
              <a:buClr>
                <a:schemeClr val="dk1"/>
              </a:buClr>
              <a:buSzPts val="1418"/>
              <a:buChar char="●"/>
            </a:pPr>
            <a:r>
              <a:rPr lang="pl" sz="1418" b="1">
                <a:solidFill>
                  <a:schemeClr val="dk1"/>
                </a:solidFill>
              </a:rPr>
              <a:t>Proces:</a:t>
            </a:r>
            <a:r>
              <a:rPr lang="pl" sz="1418">
                <a:solidFill>
                  <a:schemeClr val="dk1"/>
                </a:solidFill>
              </a:rPr>
              <a:t> Droga leku od dystrybucji i metabolizmu po usunięcie. Szybkość eliminacji (klirens) oraz objętość dystrybucji (VDss) bezpośrednio warunkują okres półtrwania.</a:t>
            </a:r>
            <a:endParaRPr sz="1418">
              <a:solidFill>
                <a:schemeClr val="dk1"/>
              </a:solidFill>
            </a:endParaRPr>
          </a:p>
          <a:p>
            <a:pPr marL="457200" lvl="0" indent="-318611" algn="l" rtl="0">
              <a:lnSpc>
                <a:spcPct val="105000"/>
              </a:lnSpc>
              <a:spcBef>
                <a:spcPts val="0"/>
              </a:spcBef>
              <a:spcAft>
                <a:spcPts val="0"/>
              </a:spcAft>
              <a:buClr>
                <a:schemeClr val="dk1"/>
              </a:buClr>
              <a:buSzPts val="1418"/>
              <a:buChar char="●"/>
            </a:pPr>
            <a:r>
              <a:rPr lang="pl" sz="1418" b="1">
                <a:solidFill>
                  <a:schemeClr val="dk1"/>
                </a:solidFill>
              </a:rPr>
              <a:t>Endpointy:</a:t>
            </a:r>
            <a:r>
              <a:rPr lang="pl" sz="1418">
                <a:solidFill>
                  <a:schemeClr val="dk1"/>
                </a:solidFill>
              </a:rPr>
              <a:t> </a:t>
            </a:r>
            <a:r>
              <a:rPr lang="pl" sz="1418" b="1">
                <a:solidFill>
                  <a:schemeClr val="dk1"/>
                </a:solidFill>
              </a:rPr>
              <a:t>Half Life</a:t>
            </a:r>
            <a:r>
              <a:rPr lang="pl" sz="1418">
                <a:solidFill>
                  <a:schemeClr val="dk1"/>
                </a:solidFill>
              </a:rPr>
              <a:t> (okres półtrwania), </a:t>
            </a:r>
            <a:r>
              <a:rPr lang="pl" sz="1418" b="1">
                <a:solidFill>
                  <a:schemeClr val="dk1"/>
                </a:solidFill>
              </a:rPr>
              <a:t>Clearance Hepatocyte</a:t>
            </a:r>
            <a:r>
              <a:rPr lang="pl" sz="1418">
                <a:solidFill>
                  <a:schemeClr val="dk1"/>
                </a:solidFill>
              </a:rPr>
              <a:t> (klirens wątrobowy), </a:t>
            </a:r>
            <a:r>
              <a:rPr lang="pl" sz="1418" b="1">
                <a:solidFill>
                  <a:schemeClr val="dk1"/>
                </a:solidFill>
              </a:rPr>
              <a:t>CYP3A4 Inhibition</a:t>
            </a:r>
            <a:r>
              <a:rPr lang="pl" sz="1418">
                <a:solidFill>
                  <a:schemeClr val="dk1"/>
                </a:solidFill>
              </a:rPr>
              <a:t> (blokowanie głównego enzymu metabolizującego), </a:t>
            </a:r>
            <a:r>
              <a:rPr lang="pl" sz="1418" b="1">
                <a:solidFill>
                  <a:schemeClr val="dk1"/>
                </a:solidFill>
              </a:rPr>
              <a:t>VDss</a:t>
            </a:r>
            <a:r>
              <a:rPr lang="pl" sz="1418">
                <a:solidFill>
                  <a:schemeClr val="dk1"/>
                </a:solidFill>
              </a:rPr>
              <a:t> (objętość dystrybucji).</a:t>
            </a:r>
            <a:endParaRPr sz="1418">
              <a:solidFill>
                <a:schemeClr val="dk1"/>
              </a:solidFill>
            </a:endParaRPr>
          </a:p>
          <a:p>
            <a:pPr marL="0" lvl="0" indent="0" algn="l" rtl="0">
              <a:lnSpc>
                <a:spcPct val="105000"/>
              </a:lnSpc>
              <a:spcBef>
                <a:spcPts val="1200"/>
              </a:spcBef>
              <a:spcAft>
                <a:spcPts val="0"/>
              </a:spcAft>
              <a:buClr>
                <a:schemeClr val="dk1"/>
              </a:buClr>
              <a:buSzPts val="1018"/>
              <a:buFont typeface="Arial"/>
              <a:buNone/>
            </a:pPr>
            <a:r>
              <a:rPr lang="pl" sz="1418" b="1">
                <a:solidFill>
                  <a:schemeClr val="dk1"/>
                </a:solidFill>
              </a:rPr>
              <a:t>Zestaw 3: Kardiotoksyczność</a:t>
            </a:r>
            <a:endParaRPr sz="1418" b="1">
              <a:solidFill>
                <a:schemeClr val="dk1"/>
              </a:solidFill>
            </a:endParaRPr>
          </a:p>
          <a:p>
            <a:pPr marL="457200" lvl="0" indent="-318611" algn="l" rtl="0">
              <a:lnSpc>
                <a:spcPct val="105000"/>
              </a:lnSpc>
              <a:spcBef>
                <a:spcPts val="0"/>
              </a:spcBef>
              <a:spcAft>
                <a:spcPts val="0"/>
              </a:spcAft>
              <a:buClr>
                <a:schemeClr val="dk1"/>
              </a:buClr>
              <a:buSzPts val="1418"/>
              <a:buChar char="●"/>
            </a:pPr>
            <a:r>
              <a:rPr lang="pl" sz="1418" b="1">
                <a:solidFill>
                  <a:schemeClr val="dk1"/>
                </a:solidFill>
              </a:rPr>
              <a:t>Proces:</a:t>
            </a:r>
            <a:r>
              <a:rPr lang="pl" sz="1418">
                <a:solidFill>
                  <a:schemeClr val="dk1"/>
                </a:solidFill>
              </a:rPr>
              <a:t> Ocena ryzyka uszkodzenia serca. Wysoka lipofilowość i VDss wydłużają ekspozycję tkankową na lek, co potęguje ryzyko toksyczności.</a:t>
            </a:r>
            <a:endParaRPr sz="1418">
              <a:solidFill>
                <a:schemeClr val="dk1"/>
              </a:solidFill>
            </a:endParaRPr>
          </a:p>
          <a:p>
            <a:pPr marL="457200" lvl="0" indent="-318611" algn="l" rtl="0">
              <a:lnSpc>
                <a:spcPct val="105000"/>
              </a:lnSpc>
              <a:spcBef>
                <a:spcPts val="0"/>
              </a:spcBef>
              <a:spcAft>
                <a:spcPts val="0"/>
              </a:spcAft>
              <a:buClr>
                <a:schemeClr val="dk1"/>
              </a:buClr>
              <a:buSzPts val="1418"/>
              <a:buChar char="●"/>
            </a:pPr>
            <a:r>
              <a:rPr lang="pl" sz="1418" b="1">
                <a:solidFill>
                  <a:schemeClr val="dk1"/>
                </a:solidFill>
              </a:rPr>
              <a:t>Endpointy:</a:t>
            </a:r>
            <a:r>
              <a:rPr lang="pl" sz="1418">
                <a:solidFill>
                  <a:schemeClr val="dk1"/>
                </a:solidFill>
              </a:rPr>
              <a:t> </a:t>
            </a:r>
            <a:r>
              <a:rPr lang="pl" sz="1418" b="1">
                <a:solidFill>
                  <a:schemeClr val="dk1"/>
                </a:solidFill>
              </a:rPr>
              <a:t>hERG</a:t>
            </a:r>
            <a:r>
              <a:rPr lang="pl" sz="1418">
                <a:solidFill>
                  <a:schemeClr val="dk1"/>
                </a:solidFill>
              </a:rPr>
              <a:t> (kluczowy kanał jonowy/parametr kardiotoksyczności), </a:t>
            </a:r>
            <a:r>
              <a:rPr lang="pl" sz="1418" b="1">
                <a:solidFill>
                  <a:schemeClr val="dk1"/>
                </a:solidFill>
              </a:rPr>
              <a:t>Lipophilicity</a:t>
            </a:r>
            <a:r>
              <a:rPr lang="pl" sz="1418">
                <a:solidFill>
                  <a:schemeClr val="dk1"/>
                </a:solidFill>
              </a:rPr>
              <a:t>, </a:t>
            </a:r>
            <a:r>
              <a:rPr lang="pl" sz="1418" b="1">
                <a:solidFill>
                  <a:schemeClr val="dk1"/>
                </a:solidFill>
              </a:rPr>
              <a:t>Solubility</a:t>
            </a:r>
            <a:r>
              <a:rPr lang="pl" sz="1418">
                <a:solidFill>
                  <a:schemeClr val="dk1"/>
                </a:solidFill>
              </a:rPr>
              <a:t>, </a:t>
            </a:r>
            <a:r>
              <a:rPr lang="pl" sz="1418" b="1">
                <a:solidFill>
                  <a:schemeClr val="dk1"/>
                </a:solidFill>
              </a:rPr>
              <a:t>VDss</a:t>
            </a:r>
            <a:r>
              <a:rPr lang="pl" sz="1418">
                <a:solidFill>
                  <a:schemeClr val="dk1"/>
                </a:solidFill>
              </a:rPr>
              <a:t>.</a:t>
            </a:r>
            <a:endParaRPr sz="2065"/>
          </a:p>
        </p:txBody>
      </p:sp>
      <p:sp>
        <p:nvSpPr>
          <p:cNvPr id="80" name="Google Shape;80;p17"/>
          <p:cNvSpPr txBox="1"/>
          <p:nvPr/>
        </p:nvSpPr>
        <p:spPr>
          <a:xfrm>
            <a:off x="3351675" y="4191600"/>
            <a:ext cx="5439300" cy="632100"/>
          </a:xfrm>
          <a:prstGeom prst="rect">
            <a:avLst/>
          </a:prstGeom>
          <a:noFill/>
          <a:ln>
            <a:noFill/>
          </a:ln>
        </p:spPr>
        <p:txBody>
          <a:bodyPr spcFirstLastPara="1" wrap="square" lIns="91425" tIns="91425" rIns="91425" bIns="91425" anchor="t" anchorCtr="0">
            <a:spAutoFit/>
          </a:bodyPr>
          <a:lstStyle/>
          <a:p>
            <a:pPr marL="0" lvl="0" indent="0" algn="l" rtl="0">
              <a:lnSpc>
                <a:spcPct val="105000"/>
              </a:lnSpc>
              <a:spcBef>
                <a:spcPts val="0"/>
              </a:spcBef>
              <a:spcAft>
                <a:spcPts val="1200"/>
              </a:spcAft>
              <a:buNone/>
            </a:pPr>
            <a:r>
              <a:rPr lang="pl" sz="1418" i="1">
                <a:solidFill>
                  <a:schemeClr val="dk1"/>
                </a:solidFill>
              </a:rPr>
              <a:t>Dodatkowo:</a:t>
            </a:r>
            <a:r>
              <a:rPr lang="pl" sz="1418">
                <a:solidFill>
                  <a:schemeClr val="dk1"/>
                </a:solidFill>
              </a:rPr>
              <a:t> </a:t>
            </a:r>
            <a:r>
              <a:rPr lang="pl" sz="1418" b="1">
                <a:solidFill>
                  <a:schemeClr val="dk1"/>
                </a:solidFill>
              </a:rPr>
              <a:t>AMES</a:t>
            </a:r>
            <a:r>
              <a:rPr lang="pl" sz="1418">
                <a:solidFill>
                  <a:schemeClr val="dk1"/>
                </a:solidFill>
              </a:rPr>
              <a:t> (potencjał mutagenny) – do testu transferu negatywnego przy zadaniach niepowiązanych.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66900" y="279394"/>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Plan implementacji</a:t>
            </a:r>
            <a:endParaRPr b="1"/>
          </a:p>
        </p:txBody>
      </p:sp>
      <p:sp>
        <p:nvSpPr>
          <p:cNvPr id="86" name="Google Shape;86;p18"/>
          <p:cNvSpPr txBox="1">
            <a:spLocks noGrp="1"/>
          </p:cNvSpPr>
          <p:nvPr>
            <p:ph type="body" idx="1"/>
          </p:nvPr>
        </p:nvSpPr>
        <p:spPr>
          <a:xfrm>
            <a:off x="311700" y="787696"/>
            <a:ext cx="84579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pl" sz="1500" b="1">
                <a:solidFill>
                  <a:schemeClr val="dk1"/>
                </a:solidFill>
              </a:rPr>
              <a:t>Cel:</a:t>
            </a:r>
            <a:r>
              <a:rPr lang="pl" sz="1500">
                <a:solidFill>
                  <a:schemeClr val="dk1"/>
                </a:solidFill>
              </a:rPr>
              <a:t> Porównanie efektów uczenia pojedynczego (STL) i wielozadaniowego (MTL) przy zachowaniu spójności architektury.</a:t>
            </a:r>
            <a:endParaRPr sz="1500">
              <a:solidFill>
                <a:schemeClr val="dk1"/>
              </a:solidFill>
            </a:endParaRPr>
          </a:p>
          <a:p>
            <a:pPr marL="457200" lvl="0" indent="-323850" algn="l" rtl="0">
              <a:spcBef>
                <a:spcPts val="1200"/>
              </a:spcBef>
              <a:spcAft>
                <a:spcPts val="0"/>
              </a:spcAft>
              <a:buClr>
                <a:schemeClr val="dk1"/>
              </a:buClr>
              <a:buSzPts val="1500"/>
              <a:buChar char="●"/>
            </a:pPr>
            <a:r>
              <a:rPr lang="pl" sz="1500" b="1">
                <a:solidFill>
                  <a:schemeClr val="dk1"/>
                </a:solidFill>
              </a:rPr>
              <a:t>Wybrane algorytmy:</a:t>
            </a:r>
            <a:endParaRPr sz="1500" b="1">
              <a:solidFill>
                <a:schemeClr val="dk1"/>
              </a:solidFill>
            </a:endParaRPr>
          </a:p>
          <a:p>
            <a:pPr marL="914400" lvl="1" indent="-323850" algn="l" rtl="0">
              <a:spcBef>
                <a:spcPts val="0"/>
              </a:spcBef>
              <a:spcAft>
                <a:spcPts val="0"/>
              </a:spcAft>
              <a:buClr>
                <a:schemeClr val="dk1"/>
              </a:buClr>
              <a:buSzPts val="1500"/>
              <a:buChar char="○"/>
            </a:pPr>
            <a:r>
              <a:rPr lang="pl" sz="1500" b="1">
                <a:solidFill>
                  <a:schemeClr val="dk1"/>
                </a:solidFill>
              </a:rPr>
              <a:t>Random Forest:</a:t>
            </a:r>
            <a:r>
              <a:rPr lang="pl" sz="1500">
                <a:solidFill>
                  <a:schemeClr val="dk1"/>
                </a:solidFill>
              </a:rPr>
              <a:t> Klasyczne podejście ML.</a:t>
            </a:r>
            <a:endParaRPr sz="1500">
              <a:solidFill>
                <a:schemeClr val="dk1"/>
              </a:solidFill>
            </a:endParaRPr>
          </a:p>
          <a:p>
            <a:pPr marL="914400" lvl="1" indent="-323850" algn="l" rtl="0">
              <a:spcBef>
                <a:spcPts val="0"/>
              </a:spcBef>
              <a:spcAft>
                <a:spcPts val="0"/>
              </a:spcAft>
              <a:buClr>
                <a:schemeClr val="dk1"/>
              </a:buClr>
              <a:buSzPts val="1500"/>
              <a:buChar char="○"/>
            </a:pPr>
            <a:r>
              <a:rPr lang="pl" sz="1500" b="1">
                <a:solidFill>
                  <a:schemeClr val="dk1"/>
                </a:solidFill>
              </a:rPr>
              <a:t>Prosta Sieć Neuronowa (MLP):</a:t>
            </a:r>
            <a:r>
              <a:rPr lang="pl" sz="1500">
                <a:solidFill>
                  <a:schemeClr val="dk1"/>
                </a:solidFill>
              </a:rPr>
              <a:t> Reprezentant uczenia głębokiego, pozwalający na łatwą implementację współdzielonych warstw w MTL.</a:t>
            </a:r>
            <a:endParaRPr sz="1500">
              <a:solidFill>
                <a:schemeClr val="dk1"/>
              </a:solidFill>
            </a:endParaRPr>
          </a:p>
          <a:p>
            <a:pPr marL="914400" lvl="1" indent="-323850" algn="l" rtl="0">
              <a:spcBef>
                <a:spcPts val="0"/>
              </a:spcBef>
              <a:spcAft>
                <a:spcPts val="0"/>
              </a:spcAft>
              <a:buClr>
                <a:schemeClr val="dk1"/>
              </a:buClr>
              <a:buSzPts val="1500"/>
              <a:buChar char="○"/>
            </a:pPr>
            <a:r>
              <a:rPr lang="pl" sz="1500" i="1">
                <a:solidFill>
                  <a:schemeClr val="dk1"/>
                </a:solidFill>
              </a:rPr>
              <a:t>Kryterium wyboru:</a:t>
            </a:r>
            <a:r>
              <a:rPr lang="pl" sz="1500">
                <a:solidFill>
                  <a:schemeClr val="dk1"/>
                </a:solidFill>
              </a:rPr>
              <a:t> Możliwość realizacji regresji i klasyfikacji oraz maksymalna porównywalność między STL a MTL.</a:t>
            </a:r>
            <a:endParaRPr sz="1500">
              <a:solidFill>
                <a:schemeClr val="dk1"/>
              </a:solidFill>
            </a:endParaRPr>
          </a:p>
          <a:p>
            <a:pPr marL="457200" lvl="0" indent="-323850" algn="l" rtl="0">
              <a:spcBef>
                <a:spcPts val="1000"/>
              </a:spcBef>
              <a:spcAft>
                <a:spcPts val="0"/>
              </a:spcAft>
              <a:buClr>
                <a:schemeClr val="dk1"/>
              </a:buClr>
              <a:buSzPts val="1500"/>
              <a:buChar char="●"/>
            </a:pPr>
            <a:r>
              <a:rPr lang="pl" sz="1500" b="1">
                <a:solidFill>
                  <a:schemeClr val="dk1"/>
                </a:solidFill>
              </a:rPr>
              <a:t>Trzy rodzaje reprezentacji molekularnej:</a:t>
            </a:r>
            <a:endParaRPr sz="1500" b="1">
              <a:solidFill>
                <a:schemeClr val="dk1"/>
              </a:solidFill>
            </a:endParaRPr>
          </a:p>
          <a:p>
            <a:pPr marL="914400" lvl="1" indent="-323850" algn="l" rtl="0">
              <a:spcBef>
                <a:spcPts val="0"/>
              </a:spcBef>
              <a:spcAft>
                <a:spcPts val="0"/>
              </a:spcAft>
              <a:buClr>
                <a:schemeClr val="dk1"/>
              </a:buClr>
              <a:buSzPts val="1500"/>
              <a:buChar char="○"/>
            </a:pPr>
            <a:r>
              <a:rPr lang="pl" sz="1500" b="1">
                <a:solidFill>
                  <a:schemeClr val="dk1"/>
                </a:solidFill>
              </a:rPr>
              <a:t>Fingerprinty</a:t>
            </a:r>
            <a:r>
              <a:rPr lang="pl" sz="1500">
                <a:solidFill>
                  <a:schemeClr val="dk1"/>
                </a:solidFill>
              </a:rPr>
              <a:t> ECFP4</a:t>
            </a:r>
            <a:endParaRPr sz="1500">
              <a:solidFill>
                <a:schemeClr val="dk1"/>
              </a:solidFill>
            </a:endParaRPr>
          </a:p>
          <a:p>
            <a:pPr marL="914400" lvl="1" indent="-323850" algn="l" rtl="0">
              <a:spcBef>
                <a:spcPts val="0"/>
              </a:spcBef>
              <a:spcAft>
                <a:spcPts val="0"/>
              </a:spcAft>
              <a:buClr>
                <a:schemeClr val="dk1"/>
              </a:buClr>
              <a:buSzPts val="1500"/>
              <a:buChar char="○"/>
            </a:pPr>
            <a:r>
              <a:rPr lang="pl" sz="1500" b="1">
                <a:solidFill>
                  <a:schemeClr val="dk1"/>
                </a:solidFill>
              </a:rPr>
              <a:t>Deskryptory </a:t>
            </a:r>
            <a:r>
              <a:rPr lang="pl" sz="1500">
                <a:solidFill>
                  <a:schemeClr val="dk1"/>
                </a:solidFill>
              </a:rPr>
              <a:t>10 cechowe</a:t>
            </a:r>
            <a:endParaRPr sz="1500">
              <a:solidFill>
                <a:schemeClr val="dk1"/>
              </a:solidFill>
            </a:endParaRPr>
          </a:p>
          <a:p>
            <a:pPr marL="914400" lvl="1" indent="-323850" algn="l" rtl="0">
              <a:spcBef>
                <a:spcPts val="0"/>
              </a:spcBef>
              <a:spcAft>
                <a:spcPts val="0"/>
              </a:spcAft>
              <a:buClr>
                <a:schemeClr val="dk1"/>
              </a:buClr>
              <a:buSzPts val="1500"/>
              <a:buChar char="○"/>
            </a:pPr>
            <a:r>
              <a:rPr lang="pl" sz="1500" b="1">
                <a:solidFill>
                  <a:schemeClr val="dk1"/>
                </a:solidFill>
              </a:rPr>
              <a:t>Embeddingi </a:t>
            </a:r>
            <a:r>
              <a:rPr lang="pl" sz="1500">
                <a:solidFill>
                  <a:schemeClr val="dk1"/>
                </a:solidFill>
              </a:rPr>
              <a:t>Molformer</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body" idx="1"/>
          </p:nvPr>
        </p:nvSpPr>
        <p:spPr>
          <a:xfrm>
            <a:off x="231975" y="350875"/>
            <a:ext cx="86793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pl" sz="1500" b="1">
                <a:solidFill>
                  <a:schemeClr val="dk1"/>
                </a:solidFill>
              </a:rPr>
              <a:t>Faza I: Baseline (STL)</a:t>
            </a:r>
            <a:endParaRPr sz="1500" b="1">
              <a:solidFill>
                <a:schemeClr val="dk1"/>
              </a:solidFill>
            </a:endParaRPr>
          </a:p>
          <a:p>
            <a:pPr marL="457200" lvl="0" indent="-323850" algn="l" rtl="0">
              <a:spcBef>
                <a:spcPts val="1200"/>
              </a:spcBef>
              <a:spcAft>
                <a:spcPts val="0"/>
              </a:spcAft>
              <a:buClr>
                <a:schemeClr val="dk1"/>
              </a:buClr>
              <a:buSzPts val="1500"/>
              <a:buChar char="●"/>
            </a:pPr>
            <a:r>
              <a:rPr lang="pl" sz="1500">
                <a:solidFill>
                  <a:schemeClr val="dk1"/>
                </a:solidFill>
              </a:rPr>
              <a:t>Realizacja 6 scenariuszy (2 algorytmy × 3 reprezentacje).</a:t>
            </a:r>
            <a:endParaRPr sz="1500">
              <a:solidFill>
                <a:schemeClr val="dk1"/>
              </a:solidFill>
            </a:endParaRPr>
          </a:p>
          <a:p>
            <a:pPr marL="457200" lvl="0" indent="-323850" algn="l" rtl="0">
              <a:spcBef>
                <a:spcPts val="0"/>
              </a:spcBef>
              <a:spcAft>
                <a:spcPts val="0"/>
              </a:spcAft>
              <a:buClr>
                <a:schemeClr val="dk1"/>
              </a:buClr>
              <a:buSzPts val="1500"/>
              <a:buChar char="●"/>
            </a:pPr>
            <a:r>
              <a:rPr lang="pl" sz="1500">
                <a:solidFill>
                  <a:schemeClr val="dk1"/>
                </a:solidFill>
              </a:rPr>
              <a:t>Wyznaczenie wyników dla każdego endpointu z osobna.</a:t>
            </a:r>
            <a:endParaRPr sz="1500">
              <a:solidFill>
                <a:schemeClr val="dk1"/>
              </a:solidFill>
            </a:endParaRPr>
          </a:p>
          <a:p>
            <a:pPr marL="457200" lvl="0" indent="-323850" algn="l" rtl="0">
              <a:spcBef>
                <a:spcPts val="0"/>
              </a:spcBef>
              <a:spcAft>
                <a:spcPts val="0"/>
              </a:spcAft>
              <a:buClr>
                <a:schemeClr val="dk1"/>
              </a:buClr>
              <a:buSzPts val="1500"/>
              <a:buChar char="●"/>
            </a:pPr>
            <a:r>
              <a:rPr lang="pl" sz="1500">
                <a:solidFill>
                  <a:schemeClr val="dk1"/>
                </a:solidFill>
              </a:rPr>
              <a:t>Problem: wielogodzinny proces obliczeń. </a:t>
            </a:r>
            <a:endParaRPr sz="1500">
              <a:solidFill>
                <a:schemeClr val="dk1"/>
              </a:solidFill>
            </a:endParaRPr>
          </a:p>
          <a:p>
            <a:pPr marL="0" lvl="0" indent="0" algn="l" rtl="0">
              <a:spcBef>
                <a:spcPts val="1200"/>
              </a:spcBef>
              <a:spcAft>
                <a:spcPts val="0"/>
              </a:spcAft>
              <a:buClr>
                <a:schemeClr val="dk1"/>
              </a:buClr>
              <a:buSzPts val="1100"/>
              <a:buFont typeface="Arial"/>
              <a:buNone/>
            </a:pPr>
            <a:r>
              <a:rPr lang="pl" sz="1500" b="1">
                <a:solidFill>
                  <a:schemeClr val="dk1"/>
                </a:solidFill>
              </a:rPr>
              <a:t>Faza II: Eksperymenty MTL</a:t>
            </a:r>
            <a:endParaRPr sz="1500" b="1">
              <a:solidFill>
                <a:schemeClr val="dk1"/>
              </a:solidFill>
            </a:endParaRPr>
          </a:p>
          <a:p>
            <a:pPr marL="457200" lvl="0" indent="-323850" algn="l" rtl="0">
              <a:spcBef>
                <a:spcPts val="1200"/>
              </a:spcBef>
              <a:spcAft>
                <a:spcPts val="0"/>
              </a:spcAft>
              <a:buClr>
                <a:schemeClr val="dk1"/>
              </a:buClr>
              <a:buSzPts val="1500"/>
              <a:buChar char="●"/>
            </a:pPr>
            <a:r>
              <a:rPr lang="pl" sz="1500">
                <a:solidFill>
                  <a:schemeClr val="dk1"/>
                </a:solidFill>
              </a:rPr>
              <a:t>Badanie wpływu łączenia różnych podzestawów endpointów na wyniki z wykorzystaniem tych samych podziałów danych, które były stosowane w STL. </a:t>
            </a:r>
            <a:endParaRPr sz="1500">
              <a:solidFill>
                <a:schemeClr val="dk1"/>
              </a:solidFill>
            </a:endParaRPr>
          </a:p>
          <a:p>
            <a:pPr marL="457200" lvl="0" indent="-323850" algn="l" rtl="0">
              <a:spcBef>
                <a:spcPts val="0"/>
              </a:spcBef>
              <a:spcAft>
                <a:spcPts val="0"/>
              </a:spcAft>
              <a:buClr>
                <a:schemeClr val="dk1"/>
              </a:buClr>
              <a:buSzPts val="1500"/>
              <a:buChar char="●"/>
            </a:pPr>
            <a:r>
              <a:rPr lang="pl" sz="1500">
                <a:solidFill>
                  <a:schemeClr val="dk1"/>
                </a:solidFill>
              </a:rPr>
              <a:t>Porównanie które reprezentacje i modele radzą sobie lepiej.</a:t>
            </a:r>
            <a:endParaRPr sz="1500">
              <a:solidFill>
                <a:schemeClr val="dk1"/>
              </a:solidFill>
            </a:endParaRPr>
          </a:p>
          <a:p>
            <a:pPr marL="457200" lvl="0" indent="-323850" algn="l" rtl="0">
              <a:spcBef>
                <a:spcPts val="0"/>
              </a:spcBef>
              <a:spcAft>
                <a:spcPts val="0"/>
              </a:spcAft>
              <a:buClr>
                <a:schemeClr val="dk1"/>
              </a:buClr>
              <a:buSzPts val="1500"/>
              <a:buChar char="●"/>
            </a:pPr>
            <a:r>
              <a:rPr lang="pl" sz="1500">
                <a:solidFill>
                  <a:schemeClr val="dk1"/>
                </a:solidFill>
              </a:rPr>
              <a:t>Problem: dana cząsteczka może nie mieć zbadanych wszystkich interesujących nas własności. </a:t>
            </a:r>
            <a:endParaRPr sz="1500">
              <a:solidFill>
                <a:schemeClr val="dk1"/>
              </a:solidFill>
            </a:endParaRPr>
          </a:p>
          <a:p>
            <a:pPr marL="0" lvl="0" indent="0" algn="l" rtl="0">
              <a:spcBef>
                <a:spcPts val="1200"/>
              </a:spcBef>
              <a:spcAft>
                <a:spcPts val="1200"/>
              </a:spcAft>
              <a:buNone/>
            </a:pPr>
            <a:endParaRPr sz="1500"/>
          </a:p>
        </p:txBody>
      </p:sp>
      <p:sp>
        <p:nvSpPr>
          <p:cNvPr id="92" name="Google Shape;92;p19"/>
          <p:cNvSpPr txBox="1"/>
          <p:nvPr/>
        </p:nvSpPr>
        <p:spPr>
          <a:xfrm>
            <a:off x="2384100" y="3588325"/>
            <a:ext cx="6855900" cy="13392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pl" sz="1500" b="1">
                <a:solidFill>
                  <a:schemeClr val="dk1"/>
                </a:solidFill>
              </a:rPr>
              <a:t>Tech Stack:</a:t>
            </a:r>
            <a:endParaRPr sz="1500" b="1">
              <a:solidFill>
                <a:schemeClr val="dk1"/>
              </a:solidFill>
            </a:endParaRPr>
          </a:p>
          <a:p>
            <a:pPr marL="0" lvl="0" indent="0" algn="l" rtl="0">
              <a:lnSpc>
                <a:spcPct val="100000"/>
              </a:lnSpc>
              <a:spcBef>
                <a:spcPts val="0"/>
              </a:spcBef>
              <a:spcAft>
                <a:spcPts val="0"/>
              </a:spcAft>
              <a:buNone/>
            </a:pPr>
            <a:r>
              <a:rPr lang="pl" sz="1500" b="1">
                <a:solidFill>
                  <a:schemeClr val="dk1"/>
                </a:solidFill>
              </a:rPr>
              <a:t>Cheminformatyka:</a:t>
            </a:r>
            <a:r>
              <a:rPr lang="pl" sz="1500">
                <a:solidFill>
                  <a:schemeClr val="dk1"/>
                </a:solidFill>
              </a:rPr>
              <a:t> </a:t>
            </a:r>
            <a:r>
              <a:rPr lang="pl" sz="1500">
                <a:solidFill>
                  <a:srgbClr val="188038"/>
                </a:solidFill>
                <a:latin typeface="Roboto Mono"/>
                <a:ea typeface="Roboto Mono"/>
                <a:cs typeface="Roboto Mono"/>
                <a:sym typeface="Roboto Mono"/>
              </a:rPr>
              <a:t>RDKit</a:t>
            </a:r>
            <a:r>
              <a:rPr lang="pl" sz="1500">
                <a:solidFill>
                  <a:schemeClr val="dk1"/>
                </a:solidFill>
              </a:rPr>
              <a:t>, </a:t>
            </a:r>
            <a:r>
              <a:rPr lang="pl" sz="1500">
                <a:solidFill>
                  <a:srgbClr val="188038"/>
                </a:solidFill>
                <a:latin typeface="Roboto Mono"/>
                <a:ea typeface="Roboto Mono"/>
                <a:cs typeface="Roboto Mono"/>
                <a:sym typeface="Roboto Mono"/>
              </a:rPr>
              <a:t>TDC</a:t>
            </a:r>
            <a:r>
              <a:rPr lang="pl" sz="1500">
                <a:solidFill>
                  <a:schemeClr val="dk1"/>
                </a:solidFill>
              </a:rPr>
              <a:t>.</a:t>
            </a:r>
            <a:endParaRPr sz="1500">
              <a:solidFill>
                <a:schemeClr val="dk1"/>
              </a:solidFill>
            </a:endParaRPr>
          </a:p>
          <a:p>
            <a:pPr marL="0" lvl="0" indent="0" algn="l" rtl="0">
              <a:lnSpc>
                <a:spcPct val="100000"/>
              </a:lnSpc>
              <a:spcBef>
                <a:spcPts val="0"/>
              </a:spcBef>
              <a:spcAft>
                <a:spcPts val="0"/>
              </a:spcAft>
              <a:buNone/>
            </a:pPr>
            <a:r>
              <a:rPr lang="pl" sz="1500" b="1">
                <a:solidFill>
                  <a:schemeClr val="dk1"/>
                </a:solidFill>
              </a:rPr>
              <a:t>Modelowanie:</a:t>
            </a:r>
            <a:r>
              <a:rPr lang="pl" sz="1500">
                <a:solidFill>
                  <a:schemeClr val="dk1"/>
                </a:solidFill>
              </a:rPr>
              <a:t> </a:t>
            </a:r>
            <a:r>
              <a:rPr lang="pl" sz="1500">
                <a:solidFill>
                  <a:srgbClr val="188038"/>
                </a:solidFill>
                <a:latin typeface="Roboto Mono"/>
                <a:ea typeface="Roboto Mono"/>
                <a:cs typeface="Roboto Mono"/>
                <a:sym typeface="Roboto Mono"/>
              </a:rPr>
              <a:t>PyTorch</a:t>
            </a:r>
            <a:r>
              <a:rPr lang="pl" sz="1500">
                <a:solidFill>
                  <a:schemeClr val="dk1"/>
                </a:solidFill>
              </a:rPr>
              <a:t>, </a:t>
            </a:r>
            <a:r>
              <a:rPr lang="pl" sz="1500">
                <a:solidFill>
                  <a:srgbClr val="188038"/>
                </a:solidFill>
                <a:latin typeface="Roboto Mono"/>
                <a:ea typeface="Roboto Mono"/>
                <a:cs typeface="Roboto Mono"/>
                <a:sym typeface="Roboto Mono"/>
              </a:rPr>
              <a:t>scikit-learn</a:t>
            </a:r>
            <a:r>
              <a:rPr lang="pl" sz="1500">
                <a:solidFill>
                  <a:schemeClr val="dk1"/>
                </a:solidFill>
              </a:rPr>
              <a:t>, </a:t>
            </a:r>
            <a:r>
              <a:rPr lang="pl" sz="1500">
                <a:solidFill>
                  <a:srgbClr val="188038"/>
                </a:solidFill>
                <a:latin typeface="Roboto Mono"/>
                <a:ea typeface="Roboto Mono"/>
                <a:cs typeface="Roboto Mono"/>
                <a:sym typeface="Roboto Mono"/>
              </a:rPr>
              <a:t>HuggingFace Transformers</a:t>
            </a:r>
            <a:r>
              <a:rPr lang="pl" sz="1500">
                <a:solidFill>
                  <a:schemeClr val="dk1"/>
                </a:solidFill>
              </a:rPr>
              <a:t>.</a:t>
            </a:r>
            <a:endParaRPr sz="1500">
              <a:solidFill>
                <a:schemeClr val="dk1"/>
              </a:solidFill>
            </a:endParaRPr>
          </a:p>
          <a:p>
            <a:pPr marL="0" lvl="0" indent="0" algn="l" rtl="0">
              <a:lnSpc>
                <a:spcPct val="100000"/>
              </a:lnSpc>
              <a:spcBef>
                <a:spcPts val="0"/>
              </a:spcBef>
              <a:spcAft>
                <a:spcPts val="0"/>
              </a:spcAft>
              <a:buNone/>
            </a:pPr>
            <a:r>
              <a:rPr lang="pl" sz="1500" b="1">
                <a:solidFill>
                  <a:schemeClr val="dk1"/>
                </a:solidFill>
              </a:rPr>
              <a:t>Analiza Danych:</a:t>
            </a:r>
            <a:r>
              <a:rPr lang="pl" sz="1500">
                <a:solidFill>
                  <a:schemeClr val="dk1"/>
                </a:solidFill>
              </a:rPr>
              <a:t> </a:t>
            </a:r>
            <a:r>
              <a:rPr lang="pl" sz="1500">
                <a:solidFill>
                  <a:srgbClr val="188038"/>
                </a:solidFill>
                <a:latin typeface="Roboto Mono"/>
                <a:ea typeface="Roboto Mono"/>
                <a:cs typeface="Roboto Mono"/>
                <a:sym typeface="Roboto Mono"/>
              </a:rPr>
              <a:t>NumPy</a:t>
            </a:r>
            <a:r>
              <a:rPr lang="pl" sz="1500">
                <a:solidFill>
                  <a:schemeClr val="dk1"/>
                </a:solidFill>
              </a:rPr>
              <a:t>, </a:t>
            </a:r>
            <a:r>
              <a:rPr lang="pl" sz="1500">
                <a:solidFill>
                  <a:srgbClr val="188038"/>
                </a:solidFill>
                <a:latin typeface="Roboto Mono"/>
                <a:ea typeface="Roboto Mono"/>
                <a:cs typeface="Roboto Mono"/>
                <a:sym typeface="Roboto Mono"/>
              </a:rPr>
              <a:t>Pandas</a:t>
            </a:r>
            <a:r>
              <a:rPr lang="pl" sz="1500">
                <a:solidFill>
                  <a:schemeClr val="dk1"/>
                </a:solidFill>
              </a:rPr>
              <a:t>, </a:t>
            </a:r>
            <a:r>
              <a:rPr lang="pl" sz="1500">
                <a:solidFill>
                  <a:srgbClr val="188038"/>
                </a:solidFill>
                <a:latin typeface="Roboto Mono"/>
                <a:ea typeface="Roboto Mono"/>
                <a:cs typeface="Roboto Mono"/>
                <a:sym typeface="Roboto Mono"/>
              </a:rPr>
              <a:t>Matplotlib</a:t>
            </a:r>
            <a:r>
              <a:rPr lang="pl" sz="1500">
                <a:solidFill>
                  <a:schemeClr val="dk1"/>
                </a:solidFill>
              </a:rPr>
              <a:t>.</a:t>
            </a:r>
            <a:endParaRPr sz="1500">
              <a:solidFill>
                <a:schemeClr val="dk1"/>
              </a:solidFill>
            </a:endParaRPr>
          </a:p>
          <a:p>
            <a:pPr marL="0" lvl="0" indent="0" algn="l" rtl="0">
              <a:lnSpc>
                <a:spcPct val="100000"/>
              </a:lnSpc>
              <a:spcBef>
                <a:spcPts val="0"/>
              </a:spcBef>
              <a:spcAft>
                <a:spcPts val="0"/>
              </a:spcAft>
              <a:buNone/>
            </a:pPr>
            <a:endParaRPr sz="15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Budowa sieci neuronowej</a:t>
            </a:r>
            <a:endParaRPr b="1"/>
          </a:p>
        </p:txBody>
      </p:sp>
      <p:pic>
        <p:nvPicPr>
          <p:cNvPr id="98" name="Google Shape;98;p20"/>
          <p:cNvPicPr preferRelativeResize="0"/>
          <p:nvPr/>
        </p:nvPicPr>
        <p:blipFill rotWithShape="1">
          <a:blip r:embed="rId3">
            <a:alphaModFix/>
          </a:blip>
          <a:srcRect l="3316"/>
          <a:stretch/>
        </p:blipFill>
        <p:spPr>
          <a:xfrm>
            <a:off x="4230309" y="880555"/>
            <a:ext cx="4348501" cy="4214951"/>
          </a:xfrm>
          <a:prstGeom prst="rect">
            <a:avLst/>
          </a:prstGeom>
          <a:noFill/>
          <a:ln>
            <a:noFill/>
          </a:ln>
        </p:spPr>
      </p:pic>
      <p:sp>
        <p:nvSpPr>
          <p:cNvPr id="99" name="Google Shape;99;p20"/>
          <p:cNvSpPr txBox="1">
            <a:spLocks noGrp="1"/>
          </p:cNvSpPr>
          <p:nvPr>
            <p:ph type="body" idx="1"/>
          </p:nvPr>
        </p:nvSpPr>
        <p:spPr>
          <a:xfrm>
            <a:off x="311700" y="1152475"/>
            <a:ext cx="3984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l" sz="1600">
                <a:solidFill>
                  <a:schemeClr val="dk1"/>
                </a:solidFill>
              </a:rPr>
              <a:t>Zgodnie z sugestią w czasie poprzedniej prezentacji przetestowaliśmy różne podejścia do połączeń rezydualnych. Różnica była niewielka, zazwyczaj ok. 1-2% i zależna także od reprezentacji, endpointu itd. </a:t>
            </a:r>
            <a:endParaRPr sz="1600">
              <a:solidFill>
                <a:schemeClr val="dk1"/>
              </a:solidFill>
            </a:endParaRPr>
          </a:p>
          <a:p>
            <a:pPr marL="0" lvl="0" indent="0" algn="l" rtl="0">
              <a:spcBef>
                <a:spcPts val="1200"/>
              </a:spcBef>
              <a:spcAft>
                <a:spcPts val="1200"/>
              </a:spcAft>
              <a:buNone/>
            </a:pPr>
            <a:r>
              <a:rPr lang="pl" sz="1600">
                <a:solidFill>
                  <a:schemeClr val="dk1"/>
                </a:solidFill>
              </a:rPr>
              <a:t>Najlepszy wynik dała architektura widoczna obok. </a:t>
            </a:r>
            <a:endParaRPr sz="16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311700" y="2426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Problem niepełnych danych </a:t>
            </a:r>
            <a:endParaRPr b="1"/>
          </a:p>
        </p:txBody>
      </p:sp>
      <p:sp>
        <p:nvSpPr>
          <p:cNvPr id="105" name="Google Shape;105;p21"/>
          <p:cNvSpPr txBox="1">
            <a:spLocks noGrp="1"/>
          </p:cNvSpPr>
          <p:nvPr>
            <p:ph type="body" idx="1"/>
          </p:nvPr>
        </p:nvSpPr>
        <p:spPr>
          <a:xfrm>
            <a:off x="133650" y="1031275"/>
            <a:ext cx="88767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l" sz="1500">
                <a:solidFill>
                  <a:schemeClr val="dk1"/>
                </a:solidFill>
              </a:rPr>
              <a:t>W modelach ADMET MTL problem braków danych (</a:t>
            </a:r>
            <a:r>
              <a:rPr lang="pl" sz="1500">
                <a:solidFill>
                  <a:schemeClr val="dk1"/>
                </a:solidFill>
                <a:latin typeface="Roboto Mono"/>
                <a:ea typeface="Roboto Mono"/>
                <a:cs typeface="Roboto Mono"/>
                <a:sym typeface="Roboto Mono"/>
              </a:rPr>
              <a:t>NaN</a:t>
            </a:r>
            <a:r>
              <a:rPr lang="pl" sz="1500">
                <a:solidFill>
                  <a:schemeClr val="dk1"/>
                </a:solidFill>
              </a:rPr>
              <a:t>) jest powszechny, ponieważ rzadko bada</a:t>
            </a:r>
            <a:br>
              <a:rPr lang="pl" sz="1500">
                <a:solidFill>
                  <a:schemeClr val="dk1"/>
                </a:solidFill>
              </a:rPr>
            </a:br>
            <a:r>
              <a:rPr lang="pl" sz="1500">
                <a:solidFill>
                  <a:schemeClr val="dk1"/>
                </a:solidFill>
              </a:rPr>
              <a:t>się te same cząsteczki pod kątem wszystkich właściwości biologicznych. Usunięcie niepełnych wierszy drastycznie zmniejszyłoby zbiór uczący. Konieczne było więc zastosowanie innych metod. </a:t>
            </a:r>
            <a:endParaRPr sz="1500">
              <a:solidFill>
                <a:schemeClr val="dk1"/>
              </a:solidFill>
            </a:endParaRPr>
          </a:p>
          <a:p>
            <a:pPr marL="0" lvl="0" indent="0" algn="l" rtl="0">
              <a:spcBef>
                <a:spcPts val="1200"/>
              </a:spcBef>
              <a:spcAft>
                <a:spcPts val="0"/>
              </a:spcAft>
              <a:buNone/>
            </a:pPr>
            <a:endParaRPr sz="700">
              <a:solidFill>
                <a:schemeClr val="dk1"/>
              </a:solidFill>
            </a:endParaRPr>
          </a:p>
          <a:p>
            <a:pPr marL="457200" lvl="0" indent="-323850" algn="l" rtl="0">
              <a:spcBef>
                <a:spcPts val="1200"/>
              </a:spcBef>
              <a:spcAft>
                <a:spcPts val="0"/>
              </a:spcAft>
              <a:buClr>
                <a:schemeClr val="dk1"/>
              </a:buClr>
              <a:buSzPts val="1500"/>
              <a:buChar char="●"/>
            </a:pPr>
            <a:r>
              <a:rPr lang="pl" sz="1500">
                <a:solidFill>
                  <a:schemeClr val="dk1"/>
                </a:solidFill>
              </a:rPr>
              <a:t>Standardowy </a:t>
            </a:r>
            <a:r>
              <a:rPr lang="pl" sz="1500" i="1">
                <a:solidFill>
                  <a:schemeClr val="dk1"/>
                </a:solidFill>
              </a:rPr>
              <a:t>Random Forest</a:t>
            </a:r>
            <a:r>
              <a:rPr lang="pl" sz="1500">
                <a:solidFill>
                  <a:schemeClr val="dk1"/>
                </a:solidFill>
              </a:rPr>
              <a:t> nie potrafi przetwarzać macierzy wyjściowej zawierającej braki. Zastosowana metoda - </a:t>
            </a:r>
            <a:r>
              <a:rPr lang="pl" sz="1500" b="1">
                <a:solidFill>
                  <a:schemeClr val="dk1"/>
                </a:solidFill>
              </a:rPr>
              <a:t>pseudo-labeling</a:t>
            </a:r>
            <a:r>
              <a:rPr lang="pl" sz="1500">
                <a:solidFill>
                  <a:schemeClr val="dk1"/>
                </a:solidFill>
              </a:rPr>
              <a:t> skutecznie rozwiązuje ten problem, uzupełniając luki przewidywaniami z osobnych modeli jednozadaniowych. Wadą tego podejścia jest ryzyko propagacji błędów - jeśli modele bazowe wygenerują błędne pseudo-etykiety, globalny model wielozadaniowy będzie uczył się tych zakłóceń. Dzięki końcowemu maskowaniu imputacji, ostateczna ewaluacja metryk odbywa się wyłącznie na autentycznych punktach danych. </a:t>
            </a:r>
            <a:endParaRPr sz="1500">
              <a:solidFill>
                <a:schemeClr val="dk1"/>
              </a:solidFill>
            </a:endParaRPr>
          </a:p>
          <a:p>
            <a:pPr marL="457200" lvl="0" indent="0" algn="l" rtl="0">
              <a:spcBef>
                <a:spcPts val="1200"/>
              </a:spcBef>
              <a:spcAft>
                <a:spcPts val="1200"/>
              </a:spcAft>
              <a:buNone/>
            </a:pPr>
            <a:endParaRPr sz="1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2"/>
          <p:cNvSpPr txBox="1">
            <a:spLocks noGrp="1"/>
          </p:cNvSpPr>
          <p:nvPr>
            <p:ph type="title"/>
          </p:nvPr>
        </p:nvSpPr>
        <p:spPr>
          <a:xfrm>
            <a:off x="311700" y="2426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Problem niepełnych danych </a:t>
            </a:r>
            <a:endParaRPr b="1"/>
          </a:p>
        </p:txBody>
      </p:sp>
      <p:sp>
        <p:nvSpPr>
          <p:cNvPr id="111" name="Google Shape;111;p22"/>
          <p:cNvSpPr txBox="1">
            <a:spLocks noGrp="1"/>
          </p:cNvSpPr>
          <p:nvPr>
            <p:ph type="body" idx="1"/>
          </p:nvPr>
        </p:nvSpPr>
        <p:spPr>
          <a:xfrm>
            <a:off x="133650" y="1031275"/>
            <a:ext cx="88767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pl" sz="1500">
                <a:solidFill>
                  <a:schemeClr val="dk1"/>
                </a:solidFill>
              </a:rPr>
              <a:t>W modelach ADMET MTL problem braków danych (</a:t>
            </a:r>
            <a:r>
              <a:rPr lang="pl" sz="1500">
                <a:solidFill>
                  <a:schemeClr val="dk1"/>
                </a:solidFill>
                <a:latin typeface="Roboto Mono"/>
                <a:ea typeface="Roboto Mono"/>
                <a:cs typeface="Roboto Mono"/>
                <a:sym typeface="Roboto Mono"/>
              </a:rPr>
              <a:t>NaN</a:t>
            </a:r>
            <a:r>
              <a:rPr lang="pl" sz="1500">
                <a:solidFill>
                  <a:schemeClr val="dk1"/>
                </a:solidFill>
              </a:rPr>
              <a:t>) jest powszechny, ponieważ rzadko bada</a:t>
            </a:r>
            <a:br>
              <a:rPr lang="pl" sz="1500">
                <a:solidFill>
                  <a:schemeClr val="dk1"/>
                </a:solidFill>
              </a:rPr>
            </a:br>
            <a:r>
              <a:rPr lang="pl" sz="1500">
                <a:solidFill>
                  <a:schemeClr val="dk1"/>
                </a:solidFill>
              </a:rPr>
              <a:t>się te same cząsteczki pod kątem wszystkich właściwości biologicznych. Usunięcie niepełnych wierszy drastycznie zmniejszyłoby zbiór uczący. Konieczne było więc zastosowanie innych metod. </a:t>
            </a:r>
            <a:endParaRPr sz="1500">
              <a:solidFill>
                <a:schemeClr val="dk1"/>
              </a:solidFill>
            </a:endParaRPr>
          </a:p>
          <a:p>
            <a:pPr marL="0" lvl="0" indent="0" algn="l" rtl="0">
              <a:spcBef>
                <a:spcPts val="1200"/>
              </a:spcBef>
              <a:spcAft>
                <a:spcPts val="0"/>
              </a:spcAft>
              <a:buNone/>
            </a:pPr>
            <a:endParaRPr sz="700">
              <a:solidFill>
                <a:schemeClr val="dk1"/>
              </a:solidFill>
            </a:endParaRPr>
          </a:p>
          <a:p>
            <a:pPr marL="457200" lvl="0" indent="-323850" algn="l" rtl="0">
              <a:spcBef>
                <a:spcPts val="1200"/>
              </a:spcBef>
              <a:spcAft>
                <a:spcPts val="0"/>
              </a:spcAft>
              <a:buClr>
                <a:schemeClr val="dk1"/>
              </a:buClr>
              <a:buSzPts val="1500"/>
              <a:buChar char="●"/>
            </a:pPr>
            <a:r>
              <a:rPr lang="pl" sz="1500">
                <a:solidFill>
                  <a:schemeClr val="dk1"/>
                </a:solidFill>
              </a:rPr>
              <a:t>Sieci neuronowe pozwalają na rozwiązanie tego problemu w sposób dynamiczny, bez konieczności sztucznego uzupełniania etykiet. Zamiast imputacji, stosuje się technikę </a:t>
            </a:r>
            <a:r>
              <a:rPr lang="pl" sz="1500" b="1">
                <a:solidFill>
                  <a:schemeClr val="dk1"/>
                </a:solidFill>
              </a:rPr>
              <a:t>maskowania funkcji straty (Loss Masking)</a:t>
            </a:r>
            <a:r>
              <a:rPr lang="pl" sz="1500">
                <a:solidFill>
                  <a:schemeClr val="dk1"/>
                </a:solidFill>
              </a:rPr>
              <a:t> bezpośrednio w trakcie pętli treningowej. Dla każdej cząsteczki sieć generuje komplet predykcji, ale algorytm oblicza błąd (Loss) wyłącznie dla tych zadań, które posiadają realny, laboratoryjny wynik. Ogromną zaletą tej metody jest to, że model uczy się wyłącznie na bazie autentycznych danych empirycznych, eliminując ryzyko propagacji błędów ze złych pseudo-etykiet. </a:t>
            </a:r>
            <a:endParaRPr sz="1500">
              <a:solidFill>
                <a:schemeClr val="dk1"/>
              </a:solidFill>
            </a:endParaRPr>
          </a:p>
          <a:p>
            <a:pPr marL="457200" lvl="0" indent="0" algn="l" rtl="0">
              <a:spcBef>
                <a:spcPts val="1200"/>
              </a:spcBef>
              <a:spcAft>
                <a:spcPts val="1200"/>
              </a:spcAft>
              <a:buNone/>
            </a:pPr>
            <a:endParaRPr sz="15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311700" y="2212916"/>
            <a:ext cx="8520600" cy="449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pl" sz="4080" b="1">
                <a:latin typeface="Times New Roman"/>
                <a:ea typeface="Times New Roman"/>
                <a:cs typeface="Times New Roman"/>
                <a:sym typeface="Times New Roman"/>
              </a:rPr>
              <a:t>WYNIKI EKSPERYMENTÓW</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279703"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Hipoteza 4*: wpływ funkcji straty na wyniki NN</a:t>
            </a:r>
            <a:endParaRPr b="1"/>
          </a:p>
        </p:txBody>
      </p:sp>
      <p:sp>
        <p:nvSpPr>
          <p:cNvPr id="122" name="Google Shape;122;p24"/>
          <p:cNvSpPr txBox="1">
            <a:spLocks noGrp="1"/>
          </p:cNvSpPr>
          <p:nvPr>
            <p:ph type="body" idx="1"/>
          </p:nvPr>
        </p:nvSpPr>
        <p:spPr>
          <a:xfrm>
            <a:off x="311700" y="1080482"/>
            <a:ext cx="8520600" cy="35697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pl" sz="1500" b="1" dirty="0">
                <a:solidFill>
                  <a:schemeClr val="dk1"/>
                </a:solidFill>
              </a:rPr>
              <a:t>Problem:</a:t>
            </a:r>
            <a:r>
              <a:rPr lang="pl" sz="1500" dirty="0">
                <a:solidFill>
                  <a:schemeClr val="dk1"/>
                </a:solidFill>
              </a:rPr>
              <a:t> Różnice w skalach regresji (MSE) i klasyfikacji (BCE) sprawiają, że jedno zadanie może całkowicie zdominować gradienty, uniemożliwiając naukę pozostałym. Dla STL używamy standardowych funkcji MSE (dla regresji) i BCE (dla klasyfikacji). Dla MTL postanowiliśmy wypróbować: </a:t>
            </a:r>
            <a:endParaRPr sz="1500" dirty="0">
              <a:solidFill>
                <a:schemeClr val="dk1"/>
              </a:solidFill>
            </a:endParaRPr>
          </a:p>
          <a:p>
            <a:pPr marL="0" lvl="0" indent="0" algn="l" rtl="0">
              <a:lnSpc>
                <a:spcPct val="95000"/>
              </a:lnSpc>
              <a:spcBef>
                <a:spcPts val="0"/>
              </a:spcBef>
              <a:spcAft>
                <a:spcPts val="0"/>
              </a:spcAft>
              <a:buNone/>
            </a:pPr>
            <a:endParaRPr sz="600" dirty="0">
              <a:solidFill>
                <a:schemeClr val="dk1"/>
              </a:solidFill>
            </a:endParaRPr>
          </a:p>
          <a:p>
            <a:pPr marL="457200" lvl="0" indent="-323850" algn="l" rtl="0">
              <a:lnSpc>
                <a:spcPct val="95000"/>
              </a:lnSpc>
              <a:spcBef>
                <a:spcPts val="0"/>
              </a:spcBef>
              <a:spcAft>
                <a:spcPts val="0"/>
              </a:spcAft>
              <a:buClr>
                <a:schemeClr val="dk1"/>
              </a:buClr>
              <a:buSzPts val="1500"/>
              <a:buChar char="●"/>
            </a:pPr>
            <a:r>
              <a:rPr lang="pl" sz="1500" b="1" dirty="0">
                <a:solidFill>
                  <a:schemeClr val="dk1"/>
                </a:solidFill>
              </a:rPr>
              <a:t>Suma (Baseline):</a:t>
            </a:r>
            <a:r>
              <a:rPr lang="pl" sz="1500" dirty="0">
                <a:solidFill>
                  <a:schemeClr val="dk1"/>
                </a:solidFill>
              </a:rPr>
              <a:t>                 – najprostsza, ale ryzykowna. Zadania o dużej skali "tłumią" pozostałe.</a:t>
            </a:r>
            <a:endParaRPr sz="1500" dirty="0">
              <a:solidFill>
                <a:schemeClr val="dk1"/>
              </a:solidFill>
            </a:endParaRPr>
          </a:p>
          <a:p>
            <a:pPr marL="457200" lvl="0" indent="-323850" algn="l" rtl="0">
              <a:lnSpc>
                <a:spcPct val="95000"/>
              </a:lnSpc>
              <a:spcBef>
                <a:spcPts val="0"/>
              </a:spcBef>
              <a:spcAft>
                <a:spcPts val="0"/>
              </a:spcAft>
              <a:buClr>
                <a:schemeClr val="dk1"/>
              </a:buClr>
              <a:buSzPts val="1500"/>
              <a:buChar char="●"/>
            </a:pPr>
            <a:r>
              <a:rPr lang="pl" sz="1500" b="1" dirty="0">
                <a:solidFill>
                  <a:schemeClr val="dk1"/>
                </a:solidFill>
              </a:rPr>
              <a:t>Uniform Average:</a:t>
            </a:r>
            <a:r>
              <a:rPr lang="pl" sz="1500" dirty="0">
                <a:solidFill>
                  <a:schemeClr val="dk1"/>
                </a:solidFill>
              </a:rPr>
              <a:t>                        - niweluje dysproporcje wynikające z samej liczby komponentów (rozwiązując problem asymetrii typu: 3 zadania regresji vs 1 klasyfikacji). Wciąż jednak pozostaje bezradna wobec różnic w bezwzględnej skali wartości tych strat. </a:t>
            </a:r>
            <a:endParaRPr sz="1500" dirty="0">
              <a:solidFill>
                <a:schemeClr val="dk1"/>
              </a:solidFill>
            </a:endParaRPr>
          </a:p>
          <a:p>
            <a:pPr marL="457200" lvl="0" indent="-323850" algn="l" rtl="0">
              <a:lnSpc>
                <a:spcPct val="95000"/>
              </a:lnSpc>
              <a:spcBef>
                <a:spcPts val="0"/>
              </a:spcBef>
              <a:spcAft>
                <a:spcPts val="0"/>
              </a:spcAft>
              <a:buClr>
                <a:schemeClr val="dk1"/>
              </a:buClr>
              <a:buSzPts val="1500"/>
              <a:buChar char="●"/>
            </a:pPr>
            <a:r>
              <a:rPr lang="pl" sz="1500" b="1" dirty="0">
                <a:solidFill>
                  <a:schemeClr val="dk1"/>
                </a:solidFill>
              </a:rPr>
              <a:t>Uncertainty Weighting (Kendall et al.):</a:t>
            </a:r>
            <a:r>
              <a:rPr lang="pl" sz="1500" dirty="0">
                <a:solidFill>
                  <a:schemeClr val="dk1"/>
                </a:solidFill>
              </a:rPr>
              <a:t>                            – metoda adaptacyjna. Sieć sama uczy się optymalnych wag na podstawie niepewności homoskedastycznej (wrodzonego szumu przypisanego do konkretnego zadania), automatycznie balansując trudność i skalę zadań.</a:t>
            </a:r>
            <a:endParaRPr sz="1500" dirty="0">
              <a:solidFill>
                <a:schemeClr val="dk1"/>
              </a:solidFill>
            </a:endParaRPr>
          </a:p>
          <a:p>
            <a:pPr marL="457200" lvl="0" indent="0" algn="l" rtl="0">
              <a:lnSpc>
                <a:spcPct val="95000"/>
              </a:lnSpc>
              <a:spcBef>
                <a:spcPts val="0"/>
              </a:spcBef>
              <a:spcAft>
                <a:spcPts val="1200"/>
              </a:spcAft>
              <a:buNone/>
            </a:pPr>
            <a:endParaRPr sz="1500" dirty="0"/>
          </a:p>
        </p:txBody>
      </p:sp>
      <p:pic>
        <p:nvPicPr>
          <p:cNvPr id="123" name="Google Shape;123;p24" title="{&quot;red&quot;:0,&quot;green&quot;:0,&quot;blue&quot;:0,&quot;origURL&quot;:&quot;https://www.codecogs.com/eqnedit.php?latex=L%20%3D%20%5Csum%20L_i#0&quot;,&quot;size&quot;:15,&quot;width&quot;:670.9133858267717,&quot;height&quot;:281.0787401574803}"/>
          <p:cNvPicPr preferRelativeResize="0"/>
          <p:nvPr/>
        </p:nvPicPr>
        <p:blipFill>
          <a:blip r:embed="rId3">
            <a:alphaModFix/>
          </a:blip>
          <a:stretch>
            <a:fillRect/>
          </a:stretch>
        </p:blipFill>
        <p:spPr>
          <a:xfrm>
            <a:off x="2426078" y="2152043"/>
            <a:ext cx="795588" cy="194300"/>
          </a:xfrm>
          <a:prstGeom prst="rect">
            <a:avLst/>
          </a:prstGeom>
          <a:noFill/>
          <a:ln>
            <a:noFill/>
          </a:ln>
        </p:spPr>
      </p:pic>
      <p:pic>
        <p:nvPicPr>
          <p:cNvPr id="124" name="Google Shape;124;p24" title="{&quot;red&quot;:0,&quot;green&quot;:0,&quot;blue&quot;:0,&quot;origURL&quot;:&quot;https://www.codecogs.com/eqnedit.php?latex=L%20%3D%20%5Ctext%7Bmean%7D(L_i)#0&quot;,&quot;size&quot;:15,&quot;width&quot;:670.9133858267717,&quot;height&quot;:281.0787401574803}"/>
          <p:cNvPicPr preferRelativeResize="0"/>
          <p:nvPr/>
        </p:nvPicPr>
        <p:blipFill>
          <a:blip r:embed="rId4">
            <a:alphaModFix/>
          </a:blip>
          <a:stretch>
            <a:fillRect/>
          </a:stretch>
        </p:blipFill>
        <p:spPr>
          <a:xfrm>
            <a:off x="2517493" y="2571750"/>
            <a:ext cx="1165860" cy="194310"/>
          </a:xfrm>
          <a:prstGeom prst="rect">
            <a:avLst/>
          </a:prstGeom>
          <a:noFill/>
          <a:ln>
            <a:noFill/>
          </a:ln>
        </p:spPr>
      </p:pic>
      <p:pic>
        <p:nvPicPr>
          <p:cNvPr id="125" name="Google Shape;125;p24" title="{&quot;red&quot;:0,&quot;green&quot;:0,&quot;blue&quot;:0,&quot;origURL&quot;:&quot;https://www.codecogs.com/eqnedit.php?latex=L%20%3D%20%5Csum%20%5Cfrac%7B1%7D%7B2%5Csigma%5E2%7D%20L_i%20%2B%20%5Clog%20%5Csigma#0&quot;,&quot;size&quot;:15,&quot;width&quot;:670.9133858267717,&quot;height&quot;:281.0787401574803}"/>
          <p:cNvPicPr preferRelativeResize="0"/>
          <p:nvPr/>
        </p:nvPicPr>
        <p:blipFill>
          <a:blip r:embed="rId5">
            <a:alphaModFix/>
          </a:blip>
          <a:stretch>
            <a:fillRect/>
          </a:stretch>
        </p:blipFill>
        <p:spPr>
          <a:xfrm>
            <a:off x="4346532" y="3229679"/>
            <a:ext cx="1371600" cy="19448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a:off x="219200" y="398821"/>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pl" b="1"/>
              <a:t>Hipoteza 4*: wpływ funkcji straty na wyniki NN</a:t>
            </a:r>
            <a:endParaRPr b="1"/>
          </a:p>
          <a:p>
            <a:pPr marL="0" lvl="0" indent="0" algn="l" rtl="0">
              <a:spcBef>
                <a:spcPts val="0"/>
              </a:spcBef>
              <a:spcAft>
                <a:spcPts val="0"/>
              </a:spcAft>
              <a:buNone/>
            </a:pPr>
            <a:endParaRPr b="1"/>
          </a:p>
        </p:txBody>
      </p:sp>
      <p:pic>
        <p:nvPicPr>
          <p:cNvPr id="131" name="Google Shape;131;p25"/>
          <p:cNvPicPr preferRelativeResize="0"/>
          <p:nvPr/>
        </p:nvPicPr>
        <p:blipFill>
          <a:blip r:embed="rId3">
            <a:alphaModFix/>
          </a:blip>
          <a:stretch>
            <a:fillRect/>
          </a:stretch>
        </p:blipFill>
        <p:spPr>
          <a:xfrm>
            <a:off x="149100" y="2296736"/>
            <a:ext cx="8845798" cy="2587860"/>
          </a:xfrm>
          <a:prstGeom prst="rect">
            <a:avLst/>
          </a:prstGeom>
          <a:noFill/>
          <a:ln>
            <a:noFill/>
          </a:ln>
        </p:spPr>
      </p:pic>
      <p:sp>
        <p:nvSpPr>
          <p:cNvPr id="132" name="Google Shape;132;p25"/>
          <p:cNvSpPr txBox="1"/>
          <p:nvPr/>
        </p:nvSpPr>
        <p:spPr>
          <a:xfrm>
            <a:off x="4486725" y="4844585"/>
            <a:ext cx="45513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l" sz="800">
                <a:solidFill>
                  <a:schemeClr val="dk1"/>
                </a:solidFill>
              </a:rPr>
              <a:t>*średnie wartości dla wystąpień endpointu w badanych zestawach (w oryginalnych jednostkach)</a:t>
            </a:r>
            <a:endParaRPr sz="800">
              <a:solidFill>
                <a:schemeClr val="dk1"/>
              </a:solidFill>
            </a:endParaRPr>
          </a:p>
        </p:txBody>
      </p:sp>
      <p:sp>
        <p:nvSpPr>
          <p:cNvPr id="133" name="Google Shape;133;p25"/>
          <p:cNvSpPr txBox="1">
            <a:spLocks noGrp="1"/>
          </p:cNvSpPr>
          <p:nvPr>
            <p:ph type="body" idx="1"/>
          </p:nvPr>
        </p:nvSpPr>
        <p:spPr>
          <a:xfrm>
            <a:off x="152075" y="891483"/>
            <a:ext cx="8845800" cy="9966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pl" sz="1400">
                <a:solidFill>
                  <a:schemeClr val="dk1"/>
                </a:solidFill>
              </a:rPr>
              <a:t>Różnice w wynikach końcowych są często subtelne. Metoda adaptacyjna przynosi zauważalną korzyść głównie w trudniejszych zadaniach regresyjnych o szerokiej skali wartości (np. </a:t>
            </a:r>
            <a:r>
              <a:rPr lang="pl" sz="1400" i="1">
                <a:solidFill>
                  <a:schemeClr val="dk1"/>
                </a:solidFill>
              </a:rPr>
              <a:t>Lipophilicity</a:t>
            </a:r>
            <a:r>
              <a:rPr lang="pl" sz="1400">
                <a:solidFill>
                  <a:schemeClr val="dk1"/>
                </a:solidFill>
              </a:rPr>
              <a:t> i </a:t>
            </a:r>
            <a:r>
              <a:rPr lang="pl" sz="1400" i="1">
                <a:solidFill>
                  <a:schemeClr val="dk1"/>
                </a:solidFill>
              </a:rPr>
              <a:t>VDss</a:t>
            </a:r>
            <a:r>
              <a:rPr lang="pl" sz="1400">
                <a:solidFill>
                  <a:schemeClr val="dk1"/>
                </a:solidFill>
              </a:rPr>
              <a:t>). Rodzaj zadania także ma duże znaczenie - wybór funkcji straty mocno wpływa na jakość regresji (gdzie skale wartości są ciągłe i nieograniczone), podczas gdy wyniki klasyfikacji (w przedziale 0-1) pozostają niemal niewrażliwe na zmianę algorytmu wagowania. </a:t>
            </a:r>
            <a:endParaRPr sz="14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6"/>
          <p:cNvSpPr txBox="1">
            <a:spLocks noGrp="1"/>
          </p:cNvSpPr>
          <p:nvPr>
            <p:ph type="title"/>
          </p:nvPr>
        </p:nvSpPr>
        <p:spPr>
          <a:xfrm>
            <a:off x="223654" y="3524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pl" b="1"/>
              <a:t>Hipoteza 4*: wpływ funkcji straty na wyniki NN</a:t>
            </a:r>
            <a:endParaRPr b="1"/>
          </a:p>
          <a:p>
            <a:pPr marL="0" lvl="0" indent="0" algn="l" rtl="0">
              <a:spcBef>
                <a:spcPts val="0"/>
              </a:spcBef>
              <a:spcAft>
                <a:spcPts val="0"/>
              </a:spcAft>
              <a:buClr>
                <a:schemeClr val="dk1"/>
              </a:buClr>
              <a:buSzPct val="39286"/>
              <a:buFont typeface="Arial"/>
              <a:buNone/>
            </a:pPr>
            <a:endParaRPr b="1"/>
          </a:p>
          <a:p>
            <a:pPr marL="0" lvl="0" indent="0" algn="l" rtl="0">
              <a:spcBef>
                <a:spcPts val="0"/>
              </a:spcBef>
              <a:spcAft>
                <a:spcPts val="0"/>
              </a:spcAft>
              <a:buNone/>
            </a:pPr>
            <a:endParaRPr b="1">
              <a:highlight>
                <a:schemeClr val="accent4"/>
              </a:highlight>
            </a:endParaRPr>
          </a:p>
        </p:txBody>
      </p:sp>
      <p:sp>
        <p:nvSpPr>
          <p:cNvPr id="139" name="Google Shape;139;p26"/>
          <p:cNvSpPr txBox="1">
            <a:spLocks noGrp="1"/>
          </p:cNvSpPr>
          <p:nvPr>
            <p:ph type="body" idx="1"/>
          </p:nvPr>
        </p:nvSpPr>
        <p:spPr>
          <a:xfrm>
            <a:off x="125375" y="925125"/>
            <a:ext cx="8754600" cy="7995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SzPts val="853"/>
              <a:buNone/>
            </a:pPr>
            <a:r>
              <a:rPr lang="pl" sz="1408">
                <a:solidFill>
                  <a:schemeClr val="dk1"/>
                </a:solidFill>
              </a:rPr>
              <a:t>Średnie wyników z poprzedniej tabeli, aby lepiej móc porównać RMSE wynik został znormalizowany metodą min-max aby był w zakresie [0,1]. </a:t>
            </a:r>
            <a:r>
              <a:rPr lang="pl" sz="1408" b="1">
                <a:solidFill>
                  <a:schemeClr val="dk1"/>
                </a:solidFill>
              </a:rPr>
              <a:t>Wniosek:</a:t>
            </a:r>
            <a:r>
              <a:rPr lang="pl" sz="1408">
                <a:solidFill>
                  <a:schemeClr val="dk1"/>
                </a:solidFill>
              </a:rPr>
              <a:t> Zgodnie z oczekiwaniami najlepiej radzi sobie Uncertainty - w przypadku dekskryptorów widać to jasno, w przypadku fingerprintów Uniform ma lepszy średni AUROC ale jest on tylko minimalnie lepszy a NRMSE dużo gorszy. W przypadku Embeddingów analogicznie.</a:t>
            </a:r>
            <a:endParaRPr sz="1408">
              <a:solidFill>
                <a:schemeClr val="dk1"/>
              </a:solidFill>
            </a:endParaRPr>
          </a:p>
        </p:txBody>
      </p:sp>
      <p:pic>
        <p:nvPicPr>
          <p:cNvPr id="140" name="Google Shape;140;p26"/>
          <p:cNvPicPr preferRelativeResize="0"/>
          <p:nvPr/>
        </p:nvPicPr>
        <p:blipFill>
          <a:blip r:embed="rId3">
            <a:alphaModFix/>
          </a:blip>
          <a:stretch>
            <a:fillRect/>
          </a:stretch>
        </p:blipFill>
        <p:spPr>
          <a:xfrm>
            <a:off x="223653" y="2164336"/>
            <a:ext cx="7016201" cy="1254925"/>
          </a:xfrm>
          <a:prstGeom prst="rect">
            <a:avLst/>
          </a:prstGeom>
          <a:noFill/>
          <a:ln>
            <a:noFill/>
          </a:ln>
        </p:spPr>
      </p:pic>
      <p:sp>
        <p:nvSpPr>
          <p:cNvPr id="141" name="Google Shape;141;p26"/>
          <p:cNvSpPr txBox="1">
            <a:spLocks noGrp="1"/>
          </p:cNvSpPr>
          <p:nvPr>
            <p:ph type="body" idx="1"/>
          </p:nvPr>
        </p:nvSpPr>
        <p:spPr>
          <a:xfrm>
            <a:off x="2604275" y="3602850"/>
            <a:ext cx="6456600" cy="15090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1200"/>
              </a:spcAft>
              <a:buSzPts val="605"/>
              <a:buNone/>
            </a:pPr>
            <a:r>
              <a:rPr lang="pl" sz="1400">
                <a:solidFill>
                  <a:schemeClr val="dk1"/>
                </a:solidFill>
              </a:rPr>
              <a:t>Metoda adaptacyjnego ważenia strat okazała się </a:t>
            </a:r>
            <a:r>
              <a:rPr lang="pl" sz="1400" b="1">
                <a:solidFill>
                  <a:schemeClr val="dk1"/>
                </a:solidFill>
              </a:rPr>
              <a:t>kluczowym czynnikiem sukcesu w zadaniach regresji</a:t>
            </a:r>
            <a:r>
              <a:rPr lang="pl" sz="1400">
                <a:solidFill>
                  <a:schemeClr val="dk1"/>
                </a:solidFill>
              </a:rPr>
              <a:t> dla wszystkich analizowanych reprezentacji. Świadczy to o tym, że sieć skutecznie nauczyła się balansować wagi strat dla zadań o drastycznie różnych skalach (np. ogromne wartości RMSE dla Half life rzędu ~85-100 vs niskie wartości dla </a:t>
            </a:r>
            <a:r>
              <a:rPr lang="pl" sz="1400">
                <a:solidFill>
                  <a:schemeClr val="dk1"/>
                </a:solidFill>
                <a:latin typeface="Roboto Mono"/>
                <a:ea typeface="Roboto Mono"/>
                <a:cs typeface="Roboto Mono"/>
                <a:sym typeface="Roboto Mono"/>
              </a:rPr>
              <a:t>Caco2</a:t>
            </a:r>
            <a:r>
              <a:rPr lang="pl" sz="1400">
                <a:solidFill>
                  <a:schemeClr val="dk1"/>
                </a:solidFill>
              </a:rPr>
              <a:t> rzędu ~0.5). </a:t>
            </a:r>
            <a:endParaRPr sz="1400">
              <a:solidFill>
                <a:schemeClr val="dk1"/>
              </a:solidFill>
            </a:endParaRPr>
          </a:p>
        </p:txBody>
      </p:sp>
      <p:pic>
        <p:nvPicPr>
          <p:cNvPr id="142" name="Google Shape;142;p26"/>
          <p:cNvPicPr preferRelativeResize="0"/>
          <p:nvPr/>
        </p:nvPicPr>
        <p:blipFill rotWithShape="1">
          <a:blip r:embed="rId4">
            <a:alphaModFix/>
          </a:blip>
          <a:srcRect l="44788"/>
          <a:stretch/>
        </p:blipFill>
        <p:spPr>
          <a:xfrm>
            <a:off x="7573156" y="2505438"/>
            <a:ext cx="1219100" cy="572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Hipoteza 3: wpływ reprezentacji na wyniki </a:t>
            </a:r>
            <a:endParaRPr b="1"/>
          </a:p>
        </p:txBody>
      </p:sp>
      <p:sp>
        <p:nvSpPr>
          <p:cNvPr id="148" name="Google Shape;148;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457200" lvl="0" indent="-316706" algn="l" rtl="0">
              <a:spcBef>
                <a:spcPts val="0"/>
              </a:spcBef>
              <a:spcAft>
                <a:spcPts val="0"/>
              </a:spcAft>
              <a:buClr>
                <a:schemeClr val="dk1"/>
              </a:buClr>
              <a:buSzPct val="100000"/>
              <a:buChar char="●"/>
            </a:pPr>
            <a:r>
              <a:rPr lang="pl" sz="1500" b="1">
                <a:solidFill>
                  <a:schemeClr val="dk1"/>
                </a:solidFill>
                <a:highlight>
                  <a:srgbClr val="FFFFFF"/>
                </a:highlight>
              </a:rPr>
              <a:t>Fingerprinty ECFP4:</a:t>
            </a:r>
            <a:r>
              <a:rPr lang="pl" sz="1500">
                <a:solidFill>
                  <a:schemeClr val="dk1"/>
                </a:solidFill>
                <a:highlight>
                  <a:srgbClr val="FFFFFF"/>
                </a:highlight>
              </a:rPr>
              <a:t> Szybkie w obliczaniu wektory binarne, które świetnie radzą sobie z wykrywaniem konkretnych grup funkcyjnych. Ich głównymi wadami są podatność na kolizje bitowe oraz to, że nie kodują bezpośrednio właściwości fizykochemicznych cząsteczek.</a:t>
            </a:r>
            <a:endParaRPr sz="1500">
              <a:solidFill>
                <a:schemeClr val="dk1"/>
              </a:solidFill>
              <a:highlight>
                <a:srgbClr val="FFFFFF"/>
              </a:highlight>
            </a:endParaRPr>
          </a:p>
          <a:p>
            <a:pPr marL="457200" lvl="0" indent="-316706" algn="l" rtl="0">
              <a:spcBef>
                <a:spcPts val="1000"/>
              </a:spcBef>
              <a:spcAft>
                <a:spcPts val="0"/>
              </a:spcAft>
              <a:buClr>
                <a:schemeClr val="dk1"/>
              </a:buClr>
              <a:buSzPct val="100000"/>
              <a:buChar char="●"/>
            </a:pPr>
            <a:r>
              <a:rPr lang="pl" sz="1500" b="1">
                <a:solidFill>
                  <a:schemeClr val="dk1"/>
                </a:solidFill>
                <a:highlight>
                  <a:srgbClr val="FFFFFF"/>
                </a:highlight>
              </a:rPr>
              <a:t>Deskryptory 10-cechowe:</a:t>
            </a:r>
            <a:r>
              <a:rPr lang="pl" sz="1500">
                <a:solidFill>
                  <a:schemeClr val="dk1"/>
                </a:solidFill>
                <a:highlight>
                  <a:srgbClr val="FFFFFF"/>
                </a:highlight>
              </a:rPr>
              <a:t> W pełni interpretowalne cechy liczbowe oparte na znanych regułach (np. Lipińskiego), których niska wymiarowość ogranicza ryzyko przeuczenia. Tak mała ilość cech nie jest jednak w stanie uchwycić wszystkich szczegółów budowy cząsteczki i wymaga wiedzy eksperckiej. </a:t>
            </a:r>
            <a:endParaRPr sz="1500">
              <a:solidFill>
                <a:schemeClr val="dk1"/>
              </a:solidFill>
              <a:highlight>
                <a:srgbClr val="FFFFFF"/>
              </a:highlight>
            </a:endParaRPr>
          </a:p>
          <a:p>
            <a:pPr marL="457200" lvl="0" indent="-316706" algn="l" rtl="0">
              <a:spcBef>
                <a:spcPts val="1000"/>
              </a:spcBef>
              <a:spcAft>
                <a:spcPts val="0"/>
              </a:spcAft>
              <a:buClr>
                <a:schemeClr val="dk1"/>
              </a:buClr>
              <a:buSzPct val="100000"/>
              <a:buChar char="●"/>
            </a:pPr>
            <a:r>
              <a:rPr lang="pl" sz="1500" b="1">
                <a:solidFill>
                  <a:schemeClr val="dk1"/>
                </a:solidFill>
                <a:highlight>
                  <a:srgbClr val="FFFFFF"/>
                </a:highlight>
              </a:rPr>
              <a:t>Embedding Molformer:</a:t>
            </a:r>
            <a:r>
              <a:rPr lang="pl" sz="1500">
                <a:solidFill>
                  <a:schemeClr val="dk1"/>
                </a:solidFill>
                <a:highlight>
                  <a:srgbClr val="FFFFFF"/>
                </a:highlight>
              </a:rPr>
              <a:t> Zaawansowany model traktujący notację chemiczną jak język, co pozwala na uchwycenie głębokich relacji strukturalnych i osiąganie wysokiej skuteczności. Jest to jednak rozwiązanie bardzo kosztowne obliczeniowo i działające jako trudna do zinterpretowania "czarna skrzynka".</a:t>
            </a:r>
            <a:endParaRPr sz="1500">
              <a:solidFill>
                <a:schemeClr val="dk1"/>
              </a:solidFill>
              <a:highlight>
                <a:srgbClr val="FFFFFF"/>
              </a:highlight>
            </a:endParaRPr>
          </a:p>
          <a:p>
            <a:pPr marL="0" lvl="0" indent="0" algn="l" rtl="0">
              <a:spcBef>
                <a:spcPts val="1000"/>
              </a:spcBef>
              <a:spcAft>
                <a:spcPts val="0"/>
              </a:spcAft>
              <a:buNone/>
            </a:pPr>
            <a:endParaRPr sz="1050">
              <a:solidFill>
                <a:srgbClr val="303030"/>
              </a:solidFill>
              <a:highlight>
                <a:srgbClr val="FFFFFF"/>
              </a:highlight>
            </a:endParaRPr>
          </a:p>
          <a:p>
            <a:pPr marL="0" lvl="0" indent="0" algn="l" rtl="0">
              <a:spcBef>
                <a:spcPts val="9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8"/>
          <p:cNvSpPr txBox="1">
            <a:spLocks noGrp="1"/>
          </p:cNvSpPr>
          <p:nvPr>
            <p:ph type="title"/>
          </p:nvPr>
        </p:nvSpPr>
        <p:spPr>
          <a:xfrm>
            <a:off x="239050" y="35956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Reprezentacja molekularna a wyniki STL </a:t>
            </a:r>
            <a:endParaRPr b="1"/>
          </a:p>
        </p:txBody>
      </p:sp>
      <p:sp>
        <p:nvSpPr>
          <p:cNvPr id="154" name="Google Shape;154;p28"/>
          <p:cNvSpPr txBox="1"/>
          <p:nvPr/>
        </p:nvSpPr>
        <p:spPr>
          <a:xfrm>
            <a:off x="1407975" y="848815"/>
            <a:ext cx="2169300" cy="2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 sz="1200" b="1">
                <a:solidFill>
                  <a:schemeClr val="dk1"/>
                </a:solidFill>
              </a:rPr>
              <a:t>Random forest</a:t>
            </a:r>
            <a:endParaRPr sz="1200" b="1">
              <a:solidFill>
                <a:schemeClr val="dk1"/>
              </a:solidFill>
            </a:endParaRPr>
          </a:p>
        </p:txBody>
      </p:sp>
      <p:pic>
        <p:nvPicPr>
          <p:cNvPr id="155" name="Google Shape;155;p28"/>
          <p:cNvPicPr preferRelativeResize="0"/>
          <p:nvPr/>
        </p:nvPicPr>
        <p:blipFill>
          <a:blip r:embed="rId3">
            <a:alphaModFix/>
          </a:blip>
          <a:stretch>
            <a:fillRect/>
          </a:stretch>
        </p:blipFill>
        <p:spPr>
          <a:xfrm>
            <a:off x="4676700" y="1160234"/>
            <a:ext cx="4419599" cy="2692926"/>
          </a:xfrm>
          <a:prstGeom prst="rect">
            <a:avLst/>
          </a:prstGeom>
          <a:noFill/>
          <a:ln>
            <a:noFill/>
          </a:ln>
        </p:spPr>
      </p:pic>
      <p:sp>
        <p:nvSpPr>
          <p:cNvPr id="156" name="Google Shape;156;p28"/>
          <p:cNvSpPr txBox="1"/>
          <p:nvPr/>
        </p:nvSpPr>
        <p:spPr>
          <a:xfrm>
            <a:off x="6012175" y="868239"/>
            <a:ext cx="2169300" cy="2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 sz="1200" b="1">
                <a:solidFill>
                  <a:schemeClr val="dk1"/>
                </a:solidFill>
              </a:rPr>
              <a:t>Sieć neuronowa </a:t>
            </a:r>
            <a:endParaRPr sz="1200" b="1">
              <a:solidFill>
                <a:schemeClr val="dk1"/>
              </a:solidFill>
            </a:endParaRPr>
          </a:p>
        </p:txBody>
      </p:sp>
      <p:pic>
        <p:nvPicPr>
          <p:cNvPr id="157" name="Google Shape;157;p28"/>
          <p:cNvPicPr preferRelativeResize="0"/>
          <p:nvPr/>
        </p:nvPicPr>
        <p:blipFill>
          <a:blip r:embed="rId4">
            <a:alphaModFix/>
          </a:blip>
          <a:stretch>
            <a:fillRect/>
          </a:stretch>
        </p:blipFill>
        <p:spPr>
          <a:xfrm>
            <a:off x="113475" y="1151226"/>
            <a:ext cx="4458527" cy="2710950"/>
          </a:xfrm>
          <a:prstGeom prst="rect">
            <a:avLst/>
          </a:prstGeom>
          <a:noFill/>
          <a:ln>
            <a:noFill/>
          </a:ln>
        </p:spPr>
      </p:pic>
      <p:sp>
        <p:nvSpPr>
          <p:cNvPr id="158" name="Google Shape;158;p28"/>
          <p:cNvSpPr txBox="1"/>
          <p:nvPr/>
        </p:nvSpPr>
        <p:spPr>
          <a:xfrm>
            <a:off x="2689400" y="3905059"/>
            <a:ext cx="6267300" cy="1076700"/>
          </a:xfrm>
          <a:prstGeom prst="rect">
            <a:avLst/>
          </a:prstGeom>
          <a:noFill/>
          <a:ln>
            <a:noFill/>
          </a:ln>
        </p:spPr>
        <p:txBody>
          <a:bodyPr spcFirstLastPara="1" wrap="square" lIns="91425" tIns="91425" rIns="91425" bIns="91425" anchor="t" anchorCtr="0">
            <a:spAutoFit/>
          </a:bodyPr>
          <a:lstStyle/>
          <a:p>
            <a:pPr marL="0" lvl="0" indent="0" algn="l" rtl="0">
              <a:lnSpc>
                <a:spcPct val="95000"/>
              </a:lnSpc>
              <a:spcBef>
                <a:spcPts val="0"/>
              </a:spcBef>
              <a:spcAft>
                <a:spcPts val="0"/>
              </a:spcAft>
              <a:buNone/>
            </a:pPr>
            <a:r>
              <a:rPr lang="pl" b="1">
                <a:solidFill>
                  <a:schemeClr val="dk1"/>
                </a:solidFill>
              </a:rPr>
              <a:t>Obserwacja:</a:t>
            </a:r>
            <a:r>
              <a:rPr lang="pl">
                <a:solidFill>
                  <a:schemeClr val="dk1"/>
                </a:solidFill>
              </a:rPr>
              <a:t> Dla RF w największej ilości przypadków wygrywają fingerprinty, </a:t>
            </a:r>
            <a:endParaRPr>
              <a:solidFill>
                <a:schemeClr val="dk1"/>
              </a:solidFill>
            </a:endParaRPr>
          </a:p>
          <a:p>
            <a:pPr marL="0" lvl="0" indent="0" algn="l" rtl="0">
              <a:lnSpc>
                <a:spcPct val="95000"/>
              </a:lnSpc>
              <a:spcBef>
                <a:spcPts val="0"/>
              </a:spcBef>
              <a:spcAft>
                <a:spcPts val="0"/>
              </a:spcAft>
              <a:buNone/>
            </a:pPr>
            <a:r>
              <a:rPr lang="pl">
                <a:solidFill>
                  <a:schemeClr val="dk1"/>
                </a:solidFill>
              </a:rPr>
              <a:t>z kolei NN najlepiej sobie radzi wykorzystując embeddingi. </a:t>
            </a:r>
            <a:endParaRPr>
              <a:solidFill>
                <a:schemeClr val="dk1"/>
              </a:solidFill>
            </a:endParaRPr>
          </a:p>
          <a:p>
            <a:pPr marL="0" lvl="0" indent="0" algn="l" rtl="0">
              <a:lnSpc>
                <a:spcPct val="95000"/>
              </a:lnSpc>
              <a:spcBef>
                <a:spcPts val="0"/>
              </a:spcBef>
              <a:spcAft>
                <a:spcPts val="0"/>
              </a:spcAft>
              <a:buNone/>
            </a:pPr>
            <a:endParaRPr sz="500">
              <a:solidFill>
                <a:schemeClr val="dk1"/>
              </a:solidFill>
            </a:endParaRPr>
          </a:p>
          <a:p>
            <a:pPr marL="0" lvl="0" indent="0" algn="l" rtl="0">
              <a:lnSpc>
                <a:spcPct val="95000"/>
              </a:lnSpc>
              <a:spcBef>
                <a:spcPts val="0"/>
              </a:spcBef>
              <a:spcAft>
                <a:spcPts val="0"/>
              </a:spcAft>
              <a:buNone/>
            </a:pPr>
            <a:r>
              <a:rPr lang="pl" b="1">
                <a:solidFill>
                  <a:schemeClr val="dk1"/>
                </a:solidFill>
              </a:rPr>
              <a:t>Wniosek:</a:t>
            </a:r>
            <a:r>
              <a:rPr lang="pl">
                <a:solidFill>
                  <a:schemeClr val="dk1"/>
                </a:solidFill>
              </a:rPr>
              <a:t> Nie ma jednej najlepszej reprezentacji, bo wszystko zależy od wybranego algorytmu</a:t>
            </a:r>
            <a:r>
              <a:rPr lang="pl" sz="1100">
                <a:solidFill>
                  <a:schemeClr val="dk1"/>
                </a:solidFill>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9"/>
          <p:cNvSpPr txBox="1"/>
          <p:nvPr/>
        </p:nvSpPr>
        <p:spPr>
          <a:xfrm>
            <a:off x="1452875" y="1046693"/>
            <a:ext cx="2169300" cy="2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 sz="1200" b="1">
                <a:solidFill>
                  <a:schemeClr val="dk1"/>
                </a:solidFill>
              </a:rPr>
              <a:t>Random forest</a:t>
            </a:r>
            <a:endParaRPr sz="1200" b="1">
              <a:solidFill>
                <a:schemeClr val="dk1"/>
              </a:solidFill>
            </a:endParaRPr>
          </a:p>
        </p:txBody>
      </p:sp>
      <p:sp>
        <p:nvSpPr>
          <p:cNvPr id="164" name="Google Shape;164;p29"/>
          <p:cNvSpPr txBox="1"/>
          <p:nvPr/>
        </p:nvSpPr>
        <p:spPr>
          <a:xfrm>
            <a:off x="5926300" y="1030705"/>
            <a:ext cx="2169300" cy="2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 sz="1200" b="1">
                <a:solidFill>
                  <a:schemeClr val="dk1"/>
                </a:solidFill>
              </a:rPr>
              <a:t>Sieć neuronowa </a:t>
            </a:r>
            <a:endParaRPr sz="1200" b="1">
              <a:solidFill>
                <a:schemeClr val="dk1"/>
              </a:solidFill>
            </a:endParaRPr>
          </a:p>
        </p:txBody>
      </p:sp>
      <p:sp>
        <p:nvSpPr>
          <p:cNvPr id="165" name="Google Shape;165;p29"/>
          <p:cNvSpPr txBox="1">
            <a:spLocks noGrp="1"/>
          </p:cNvSpPr>
          <p:nvPr>
            <p:ph type="body" idx="1"/>
          </p:nvPr>
        </p:nvSpPr>
        <p:spPr>
          <a:xfrm>
            <a:off x="2065100" y="2942400"/>
            <a:ext cx="7039800" cy="1799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275"/>
              <a:buNone/>
            </a:pPr>
            <a:r>
              <a:rPr lang="pl" sz="1400" b="1">
                <a:solidFill>
                  <a:schemeClr val="dk1"/>
                </a:solidFill>
              </a:rPr>
              <a:t>Przyczyna:</a:t>
            </a:r>
            <a:r>
              <a:rPr lang="pl" sz="1400">
                <a:solidFill>
                  <a:schemeClr val="dk1"/>
                </a:solidFill>
              </a:rPr>
              <a:t> Różnica w istocie działania modeli. Fingerprinty mają często długość 1024 bitów, z czego większość dla danej cząsteczki to zera. Sieci neuronowe gubią się w takim "szumie" i wymagają skomplikowanej regularyzacji, aby nie przypisywać wag do nieistotnych zer. Z kolei embeddingi generowane przez modele językowe (jak MoLFormer) to gęste wektory liczb zmiennoprzecinkowych (ciągłych), które kodują kontekst całej cząsteczki. Sieci neuronowe są jedyną architekturą zdolną do ponownego scalenia tej rozproszonej informacji poprzez odpowiednie dopasowanie wag w kolejnych warstwach.</a:t>
            </a:r>
            <a:endParaRPr sz="1400">
              <a:solidFill>
                <a:schemeClr val="dk1"/>
              </a:solidFill>
            </a:endParaRPr>
          </a:p>
        </p:txBody>
      </p:sp>
      <p:pic>
        <p:nvPicPr>
          <p:cNvPr id="166" name="Google Shape;166;p29"/>
          <p:cNvPicPr preferRelativeResize="0"/>
          <p:nvPr/>
        </p:nvPicPr>
        <p:blipFill>
          <a:blip r:embed="rId3">
            <a:alphaModFix/>
          </a:blip>
          <a:stretch>
            <a:fillRect/>
          </a:stretch>
        </p:blipFill>
        <p:spPr>
          <a:xfrm>
            <a:off x="566725" y="1426542"/>
            <a:ext cx="3491210" cy="1292125"/>
          </a:xfrm>
          <a:prstGeom prst="rect">
            <a:avLst/>
          </a:prstGeom>
          <a:noFill/>
          <a:ln>
            <a:noFill/>
          </a:ln>
        </p:spPr>
      </p:pic>
      <p:pic>
        <p:nvPicPr>
          <p:cNvPr id="167" name="Google Shape;167;p29"/>
          <p:cNvPicPr preferRelativeResize="0"/>
          <p:nvPr/>
        </p:nvPicPr>
        <p:blipFill>
          <a:blip r:embed="rId4">
            <a:alphaModFix/>
          </a:blip>
          <a:stretch>
            <a:fillRect/>
          </a:stretch>
        </p:blipFill>
        <p:spPr>
          <a:xfrm>
            <a:off x="4875800" y="1426530"/>
            <a:ext cx="3497400" cy="1292125"/>
          </a:xfrm>
          <a:prstGeom prst="rect">
            <a:avLst/>
          </a:prstGeom>
          <a:noFill/>
          <a:ln>
            <a:noFill/>
          </a:ln>
        </p:spPr>
      </p:pic>
      <p:sp>
        <p:nvSpPr>
          <p:cNvPr id="168" name="Google Shape;168;p29"/>
          <p:cNvSpPr txBox="1">
            <a:spLocks noGrp="1"/>
          </p:cNvSpPr>
          <p:nvPr>
            <p:ph type="title"/>
          </p:nvPr>
        </p:nvSpPr>
        <p:spPr>
          <a:xfrm>
            <a:off x="239050" y="367572"/>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Reprezentacja molekularna a wyniki STL </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239662" y="367684"/>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Reprezentacja molekularna a wyniki MTL </a:t>
            </a:r>
            <a:endParaRPr b="1"/>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74" name="Google Shape;174;p30"/>
          <p:cNvPicPr preferRelativeResize="0"/>
          <p:nvPr/>
        </p:nvPicPr>
        <p:blipFill>
          <a:blip r:embed="rId3">
            <a:alphaModFix/>
          </a:blip>
          <a:stretch>
            <a:fillRect/>
          </a:stretch>
        </p:blipFill>
        <p:spPr>
          <a:xfrm>
            <a:off x="2480400" y="1151375"/>
            <a:ext cx="3703750" cy="1117725"/>
          </a:xfrm>
          <a:prstGeom prst="rect">
            <a:avLst/>
          </a:prstGeom>
          <a:noFill/>
          <a:ln>
            <a:noFill/>
          </a:ln>
        </p:spPr>
      </p:pic>
      <p:sp>
        <p:nvSpPr>
          <p:cNvPr id="175" name="Google Shape;175;p30"/>
          <p:cNvSpPr txBox="1">
            <a:spLocks noGrp="1"/>
          </p:cNvSpPr>
          <p:nvPr>
            <p:ph type="body" idx="1"/>
          </p:nvPr>
        </p:nvSpPr>
        <p:spPr>
          <a:xfrm>
            <a:off x="183175" y="2381125"/>
            <a:ext cx="9061800" cy="173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l" sz="1400" b="1">
                <a:solidFill>
                  <a:schemeClr val="dk1"/>
                </a:solidFill>
              </a:rPr>
              <a:t>Obserwacja</a:t>
            </a:r>
            <a:r>
              <a:rPr lang="pl" sz="1400">
                <a:solidFill>
                  <a:schemeClr val="dk1"/>
                </a:solidFill>
              </a:rPr>
              <a:t>: Dla </a:t>
            </a:r>
            <a:r>
              <a:rPr lang="pl" sz="1400" b="1">
                <a:solidFill>
                  <a:schemeClr val="dk1"/>
                </a:solidFill>
              </a:rPr>
              <a:t>Random Forest</a:t>
            </a:r>
            <a:r>
              <a:rPr lang="pl" sz="1400">
                <a:solidFill>
                  <a:schemeClr val="dk1"/>
                </a:solidFill>
              </a:rPr>
              <a:t> wygrywają deskryptory, NRMSE dużo lepsze, AUROC tylko minimalnie gorsze niż dla embeddingów. </a:t>
            </a:r>
            <a:endParaRPr sz="1400">
              <a:solidFill>
                <a:schemeClr val="dk1"/>
              </a:solidFill>
            </a:endParaRPr>
          </a:p>
          <a:p>
            <a:pPr marL="0" lvl="0" indent="0" algn="l" rtl="0">
              <a:spcBef>
                <a:spcPts val="1200"/>
              </a:spcBef>
              <a:spcAft>
                <a:spcPts val="1200"/>
              </a:spcAft>
              <a:buNone/>
            </a:pPr>
            <a:r>
              <a:rPr lang="pl" sz="1400" b="1">
                <a:solidFill>
                  <a:schemeClr val="dk1"/>
                </a:solidFill>
              </a:rPr>
              <a:t>Prawdopodobna przyczyna zmiany względem STL: </a:t>
            </a:r>
            <a:r>
              <a:rPr lang="pl" sz="1400">
                <a:solidFill>
                  <a:schemeClr val="dk1"/>
                </a:solidFill>
              </a:rPr>
              <a:t> fingerprinty uległy przeuczeniu na tych sztucznych etykietach ze względu na swoją wysoką wymiarowość. Niska wymiarowość oraz bezpośrednie kodowanie cech fizykochemicznych w deskryptorach zadziałały jak naturalna regularyzacja,obniżając globalny błąd modelu. </a:t>
            </a:r>
            <a:endParaRPr sz="1400"/>
          </a:p>
        </p:txBody>
      </p:sp>
      <p:sp>
        <p:nvSpPr>
          <p:cNvPr id="176" name="Google Shape;176;p30"/>
          <p:cNvSpPr txBox="1"/>
          <p:nvPr/>
        </p:nvSpPr>
        <p:spPr>
          <a:xfrm>
            <a:off x="2057400" y="4115425"/>
            <a:ext cx="67029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pl" b="1">
                <a:solidFill>
                  <a:schemeClr val="dk1"/>
                </a:solidFill>
              </a:rPr>
              <a:t>Wniosek</a:t>
            </a:r>
            <a:r>
              <a:rPr lang="pl">
                <a:solidFill>
                  <a:schemeClr val="dk1"/>
                </a:solidFill>
              </a:rPr>
              <a:t>: Wybór reprezentacji może zależeć też od trybu uczenia STL vs MTL.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1"/>
          <p:cNvSpPr txBox="1">
            <a:spLocks noGrp="1"/>
          </p:cNvSpPr>
          <p:nvPr>
            <p:ph type="title"/>
          </p:nvPr>
        </p:nvSpPr>
        <p:spPr>
          <a:xfrm>
            <a:off x="263675" y="367684"/>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pl" b="1"/>
              <a:t>Reprezentacja molekularna a wyniki MTL </a:t>
            </a:r>
            <a:endParaRPr b="1"/>
          </a:p>
          <a:p>
            <a:pPr marL="0" lvl="0" indent="0" algn="l" rtl="0">
              <a:spcBef>
                <a:spcPts val="0"/>
              </a:spcBef>
              <a:spcAft>
                <a:spcPts val="0"/>
              </a:spcAft>
              <a:buClr>
                <a:schemeClr val="dk1"/>
              </a:buClr>
              <a:buSzPct val="39286"/>
              <a:buFont typeface="Arial"/>
              <a:buNone/>
            </a:pPr>
            <a:endParaRPr/>
          </a:p>
          <a:p>
            <a:pPr marL="0" lvl="0" indent="0" algn="l" rtl="0">
              <a:spcBef>
                <a:spcPts val="0"/>
              </a:spcBef>
              <a:spcAft>
                <a:spcPts val="0"/>
              </a:spcAft>
              <a:buNone/>
            </a:pPr>
            <a:endParaRPr/>
          </a:p>
        </p:txBody>
      </p:sp>
      <p:pic>
        <p:nvPicPr>
          <p:cNvPr id="182" name="Google Shape;182;p31"/>
          <p:cNvPicPr preferRelativeResize="0"/>
          <p:nvPr/>
        </p:nvPicPr>
        <p:blipFill>
          <a:blip r:embed="rId3">
            <a:alphaModFix/>
          </a:blip>
          <a:stretch>
            <a:fillRect/>
          </a:stretch>
        </p:blipFill>
        <p:spPr>
          <a:xfrm>
            <a:off x="951653" y="1249911"/>
            <a:ext cx="7016201" cy="1254925"/>
          </a:xfrm>
          <a:prstGeom prst="rect">
            <a:avLst/>
          </a:prstGeom>
          <a:noFill/>
          <a:ln>
            <a:noFill/>
          </a:ln>
        </p:spPr>
      </p:pic>
      <p:sp>
        <p:nvSpPr>
          <p:cNvPr id="183" name="Google Shape;183;p31"/>
          <p:cNvSpPr txBox="1">
            <a:spLocks noGrp="1"/>
          </p:cNvSpPr>
          <p:nvPr>
            <p:ph type="body" idx="1"/>
          </p:nvPr>
        </p:nvSpPr>
        <p:spPr>
          <a:xfrm>
            <a:off x="912300" y="2768975"/>
            <a:ext cx="7920000" cy="507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pl" sz="1500" b="1">
                <a:solidFill>
                  <a:schemeClr val="dk1"/>
                </a:solidFill>
              </a:rPr>
              <a:t>Wniosek</a:t>
            </a:r>
            <a:r>
              <a:rPr lang="pl" sz="1500">
                <a:solidFill>
                  <a:schemeClr val="dk1"/>
                </a:solidFill>
              </a:rPr>
              <a:t>: Dla </a:t>
            </a:r>
            <a:r>
              <a:rPr lang="pl" sz="1500" b="1">
                <a:solidFill>
                  <a:schemeClr val="dk1"/>
                </a:solidFill>
              </a:rPr>
              <a:t>sieci neuronowej</a:t>
            </a:r>
            <a:r>
              <a:rPr lang="pl" sz="1500">
                <a:solidFill>
                  <a:schemeClr val="dk1"/>
                </a:solidFill>
              </a:rPr>
              <a:t> ponownie zdecydowanie wygrywają </a:t>
            </a:r>
            <a:r>
              <a:rPr lang="pl" sz="1500" b="1">
                <a:solidFill>
                  <a:schemeClr val="dk1"/>
                </a:solidFill>
              </a:rPr>
              <a:t>embeddingi</a:t>
            </a:r>
            <a:r>
              <a:rPr lang="pl" sz="1500">
                <a:solidFill>
                  <a:schemeClr val="dk1"/>
                </a:solidFill>
              </a:rPr>
              <a:t>. Połączenie tej reprezentacji z funkcją straty </a:t>
            </a:r>
            <a:r>
              <a:rPr lang="pl" sz="1500" i="1">
                <a:solidFill>
                  <a:schemeClr val="dk1"/>
                </a:solidFill>
              </a:rPr>
              <a:t>Uncertainty Weighting</a:t>
            </a:r>
            <a:r>
              <a:rPr lang="pl" sz="1500">
                <a:solidFill>
                  <a:schemeClr val="dk1"/>
                </a:solidFill>
              </a:rPr>
              <a:t> dało najlepszy wynik całego eksperymentu regresyjnego znacznie obniżając średni wynik NRMSE.</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2"/>
          <p:cNvSpPr txBox="1">
            <a:spLocks noGrp="1"/>
          </p:cNvSpPr>
          <p:nvPr>
            <p:ph type="title"/>
          </p:nvPr>
        </p:nvSpPr>
        <p:spPr>
          <a:xfrm>
            <a:off x="239050" y="319547"/>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Hipoteza 5*: Porównanie modeli - STL </a:t>
            </a:r>
            <a:endParaRPr b="1"/>
          </a:p>
        </p:txBody>
      </p:sp>
      <p:sp>
        <p:nvSpPr>
          <p:cNvPr id="189" name="Google Shape;189;p32"/>
          <p:cNvSpPr txBox="1"/>
          <p:nvPr/>
        </p:nvSpPr>
        <p:spPr>
          <a:xfrm>
            <a:off x="1585450" y="797880"/>
            <a:ext cx="2169300" cy="2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 sz="1200" b="1">
                <a:solidFill>
                  <a:schemeClr val="dk1"/>
                </a:solidFill>
              </a:rPr>
              <a:t>Random forest</a:t>
            </a:r>
            <a:endParaRPr sz="1200" b="1">
              <a:solidFill>
                <a:schemeClr val="dk1"/>
              </a:solidFill>
            </a:endParaRPr>
          </a:p>
        </p:txBody>
      </p:sp>
      <p:pic>
        <p:nvPicPr>
          <p:cNvPr id="190" name="Google Shape;190;p32"/>
          <p:cNvPicPr preferRelativeResize="0"/>
          <p:nvPr/>
        </p:nvPicPr>
        <p:blipFill>
          <a:blip r:embed="rId3">
            <a:alphaModFix/>
          </a:blip>
          <a:stretch>
            <a:fillRect/>
          </a:stretch>
        </p:blipFill>
        <p:spPr>
          <a:xfrm>
            <a:off x="4636700" y="1148701"/>
            <a:ext cx="4419599" cy="2692926"/>
          </a:xfrm>
          <a:prstGeom prst="rect">
            <a:avLst/>
          </a:prstGeom>
          <a:noFill/>
          <a:ln>
            <a:noFill/>
          </a:ln>
        </p:spPr>
      </p:pic>
      <p:sp>
        <p:nvSpPr>
          <p:cNvPr id="191" name="Google Shape;191;p32"/>
          <p:cNvSpPr txBox="1"/>
          <p:nvPr/>
        </p:nvSpPr>
        <p:spPr>
          <a:xfrm>
            <a:off x="6022600" y="797877"/>
            <a:ext cx="2169300" cy="2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 sz="1200" b="1">
                <a:solidFill>
                  <a:schemeClr val="dk1"/>
                </a:solidFill>
              </a:rPr>
              <a:t>Sieć neuronowa </a:t>
            </a:r>
            <a:endParaRPr sz="1200" b="1">
              <a:solidFill>
                <a:schemeClr val="dk1"/>
              </a:solidFill>
            </a:endParaRPr>
          </a:p>
        </p:txBody>
      </p:sp>
      <p:pic>
        <p:nvPicPr>
          <p:cNvPr id="192" name="Google Shape;192;p32"/>
          <p:cNvPicPr preferRelativeResize="0"/>
          <p:nvPr/>
        </p:nvPicPr>
        <p:blipFill>
          <a:blip r:embed="rId4">
            <a:alphaModFix/>
          </a:blip>
          <a:stretch>
            <a:fillRect/>
          </a:stretch>
        </p:blipFill>
        <p:spPr>
          <a:xfrm>
            <a:off x="97200" y="1140697"/>
            <a:ext cx="4458527" cy="2710950"/>
          </a:xfrm>
          <a:prstGeom prst="rect">
            <a:avLst/>
          </a:prstGeom>
          <a:noFill/>
          <a:ln>
            <a:noFill/>
          </a:ln>
        </p:spPr>
      </p:pic>
      <p:sp>
        <p:nvSpPr>
          <p:cNvPr id="193" name="Google Shape;193;p32"/>
          <p:cNvSpPr txBox="1">
            <a:spLocks noGrp="1"/>
          </p:cNvSpPr>
          <p:nvPr>
            <p:ph type="body" idx="1"/>
          </p:nvPr>
        </p:nvSpPr>
        <p:spPr>
          <a:xfrm>
            <a:off x="2535550" y="3879450"/>
            <a:ext cx="6608400" cy="11748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275"/>
              <a:buNone/>
            </a:pPr>
            <a:r>
              <a:rPr lang="pl" sz="1300">
                <a:solidFill>
                  <a:schemeClr val="dk1"/>
                </a:solidFill>
              </a:rPr>
              <a:t>W bezpośrednim porównaniu podejścia jednowymiarowego, sieci neuronowe zazwyczaj wygrywają z algorytmem Random Forest. W zadaniach ciągłych, gdzie trzeba przewidzieć dokładną wartość liczbową, zdolność sieci neuronowych do mapowania nieliniowości pozwala o wiele dokładniej dopasować się do skomplikowanych wykresów i trendów w danych laboratoryjnych. </a:t>
            </a:r>
            <a:endParaRPr sz="16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3"/>
          <p:cNvSpPr txBox="1">
            <a:spLocks noGrp="1"/>
          </p:cNvSpPr>
          <p:nvPr>
            <p:ph type="title"/>
          </p:nvPr>
        </p:nvSpPr>
        <p:spPr>
          <a:xfrm>
            <a:off x="239050" y="319547"/>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Hipoteza 5*: Porównanie modeli - MTL</a:t>
            </a:r>
            <a:endParaRPr b="1"/>
          </a:p>
        </p:txBody>
      </p:sp>
      <p:sp>
        <p:nvSpPr>
          <p:cNvPr id="199" name="Google Shape;199;p33"/>
          <p:cNvSpPr txBox="1"/>
          <p:nvPr/>
        </p:nvSpPr>
        <p:spPr>
          <a:xfrm>
            <a:off x="308875" y="2145975"/>
            <a:ext cx="2836200" cy="2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 sz="1200" b="1">
                <a:solidFill>
                  <a:schemeClr val="dk1"/>
                </a:solidFill>
              </a:rPr>
              <a:t>Random forest + deskryptory</a:t>
            </a:r>
            <a:endParaRPr sz="1200" b="1">
              <a:solidFill>
                <a:schemeClr val="dk1"/>
              </a:solidFill>
            </a:endParaRPr>
          </a:p>
        </p:txBody>
      </p:sp>
      <p:sp>
        <p:nvSpPr>
          <p:cNvPr id="200" name="Google Shape;200;p33"/>
          <p:cNvSpPr txBox="1"/>
          <p:nvPr/>
        </p:nvSpPr>
        <p:spPr>
          <a:xfrm>
            <a:off x="308875" y="734301"/>
            <a:ext cx="2760000" cy="2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 sz="1200" b="1">
                <a:solidFill>
                  <a:schemeClr val="dk1"/>
                </a:solidFill>
              </a:rPr>
              <a:t>Sieć neuronowa + embeddingi</a:t>
            </a:r>
            <a:endParaRPr sz="1200" b="1">
              <a:solidFill>
                <a:schemeClr val="dk1"/>
              </a:solidFill>
            </a:endParaRPr>
          </a:p>
        </p:txBody>
      </p:sp>
      <p:pic>
        <p:nvPicPr>
          <p:cNvPr id="201" name="Google Shape;201;p33"/>
          <p:cNvPicPr preferRelativeResize="0"/>
          <p:nvPr/>
        </p:nvPicPr>
        <p:blipFill>
          <a:blip r:embed="rId3">
            <a:alphaModFix/>
          </a:blip>
          <a:stretch>
            <a:fillRect/>
          </a:stretch>
        </p:blipFill>
        <p:spPr>
          <a:xfrm>
            <a:off x="308877" y="1025311"/>
            <a:ext cx="7317014" cy="1085237"/>
          </a:xfrm>
          <a:prstGeom prst="rect">
            <a:avLst/>
          </a:prstGeom>
          <a:noFill/>
          <a:ln>
            <a:noFill/>
          </a:ln>
        </p:spPr>
      </p:pic>
      <p:pic>
        <p:nvPicPr>
          <p:cNvPr id="202" name="Google Shape;202;p33"/>
          <p:cNvPicPr preferRelativeResize="0"/>
          <p:nvPr/>
        </p:nvPicPr>
        <p:blipFill>
          <a:blip r:embed="rId4">
            <a:alphaModFix/>
          </a:blip>
          <a:stretch>
            <a:fillRect/>
          </a:stretch>
        </p:blipFill>
        <p:spPr>
          <a:xfrm>
            <a:off x="308875" y="2472386"/>
            <a:ext cx="7316991" cy="1085225"/>
          </a:xfrm>
          <a:prstGeom prst="rect">
            <a:avLst/>
          </a:prstGeom>
          <a:noFill/>
          <a:ln>
            <a:noFill/>
          </a:ln>
        </p:spPr>
      </p:pic>
      <p:sp>
        <p:nvSpPr>
          <p:cNvPr id="203" name="Google Shape;203;p33"/>
          <p:cNvSpPr txBox="1">
            <a:spLocks noGrp="1"/>
          </p:cNvSpPr>
          <p:nvPr>
            <p:ph type="body" idx="1"/>
          </p:nvPr>
        </p:nvSpPr>
        <p:spPr>
          <a:xfrm>
            <a:off x="544275" y="3593000"/>
            <a:ext cx="8848500" cy="497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275"/>
              <a:buNone/>
            </a:pPr>
            <a:r>
              <a:rPr lang="pl" sz="1300">
                <a:solidFill>
                  <a:schemeClr val="dk1"/>
                </a:solidFill>
              </a:rPr>
              <a:t>Sieci neuronowe bezdyskusyjnie dominują w klasyfikacji (AUROC), jednak w regresji (NRMSE) przewagę zyskuje Random Forest, wygrywając w zestawach </a:t>
            </a:r>
            <a:r>
              <a:rPr lang="pl" sz="1300" i="1">
                <a:solidFill>
                  <a:schemeClr val="dk1"/>
                </a:solidFill>
              </a:rPr>
              <a:t>Eliminacja</a:t>
            </a:r>
            <a:r>
              <a:rPr lang="pl" sz="1300">
                <a:solidFill>
                  <a:schemeClr val="dk1"/>
                </a:solidFill>
              </a:rPr>
              <a:t> i </a:t>
            </a:r>
            <a:r>
              <a:rPr lang="pl" sz="1300" i="1">
                <a:solidFill>
                  <a:schemeClr val="dk1"/>
                </a:solidFill>
              </a:rPr>
              <a:t>Kardiotoksyczność</a:t>
            </a:r>
            <a:r>
              <a:rPr lang="pl" sz="1300">
                <a:solidFill>
                  <a:schemeClr val="dk1"/>
                </a:solidFill>
              </a:rPr>
              <a:t>.</a:t>
            </a:r>
            <a:endParaRPr sz="1675" b="1">
              <a:solidFill>
                <a:schemeClr val="dk1"/>
              </a:solidFill>
              <a:highlight>
                <a:srgbClr val="00FFFF"/>
              </a:highlight>
            </a:endParaRPr>
          </a:p>
        </p:txBody>
      </p:sp>
      <p:sp>
        <p:nvSpPr>
          <p:cNvPr id="204" name="Google Shape;204;p33"/>
          <p:cNvSpPr txBox="1"/>
          <p:nvPr/>
        </p:nvSpPr>
        <p:spPr>
          <a:xfrm>
            <a:off x="2625375" y="4090100"/>
            <a:ext cx="6518700" cy="945000"/>
          </a:xfrm>
          <a:prstGeom prst="rect">
            <a:avLst/>
          </a:prstGeom>
          <a:noFill/>
          <a:ln>
            <a:noFill/>
          </a:ln>
        </p:spPr>
        <p:txBody>
          <a:bodyPr spcFirstLastPara="1" wrap="square" lIns="91425" tIns="91425" rIns="91425" bIns="91425" anchor="t" anchorCtr="0">
            <a:spAutoFit/>
          </a:bodyPr>
          <a:lstStyle/>
          <a:p>
            <a:pPr marL="0" lvl="0" indent="0" algn="l" rtl="0">
              <a:lnSpc>
                <a:spcPct val="95000"/>
              </a:lnSpc>
              <a:spcBef>
                <a:spcPts val="0"/>
              </a:spcBef>
              <a:spcAft>
                <a:spcPts val="0"/>
              </a:spcAft>
              <a:buNone/>
            </a:pPr>
            <a:r>
              <a:rPr lang="pl" sz="1300">
                <a:solidFill>
                  <a:schemeClr val="dk1"/>
                </a:solidFill>
              </a:rPr>
              <a:t>Prawdopodobną przyczyną tego jest wysoka elastyczność sieci, która przy niepełnych danych MTL mogła doprowadzić do przeuczenia na szumie informacyjnym. Z kolei niska wymiarowość i stabilność deskryptorów fizykochemicznych zadziałały jak naturalna regularyzacja i stabilizująca proces uczenia.</a:t>
            </a:r>
            <a:endParaRPr sz="1675" b="1">
              <a:solidFill>
                <a:schemeClr val="dk1"/>
              </a:solidFill>
              <a:highlight>
                <a:srgbClr val="00FFFF"/>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4"/>
          <p:cNvSpPr txBox="1">
            <a:spLocks noGrp="1"/>
          </p:cNvSpPr>
          <p:nvPr>
            <p:ph type="body" idx="1"/>
          </p:nvPr>
        </p:nvSpPr>
        <p:spPr>
          <a:xfrm>
            <a:off x="256475" y="1628850"/>
            <a:ext cx="8520600" cy="1885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pl" b="1">
                <a:solidFill>
                  <a:schemeClr val="dk1"/>
                </a:solidFill>
              </a:rPr>
              <a:t>Uwaga</a:t>
            </a:r>
            <a:r>
              <a:rPr lang="pl">
                <a:solidFill>
                  <a:schemeClr val="dk1"/>
                </a:solidFill>
              </a:rPr>
              <a:t>: Ze względu na dużą liczbę wyników w przedstawianiu kolejnych hipotez będziemy używać najlepszych wersji modeli wybranych na podstawie wyników omawianych na poprzednich slajdach tzn. algorytmu random forest w połączeniu z deskryptorami oraz sieci neuronowej z adaptacyjną funkcją straty wykorzystującą embeddingi. </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5"/>
          <p:cNvSpPr txBox="1">
            <a:spLocks noGrp="1"/>
          </p:cNvSpPr>
          <p:nvPr>
            <p:ph type="title"/>
          </p:nvPr>
        </p:nvSpPr>
        <p:spPr>
          <a:xfrm>
            <a:off x="311700" y="51038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l" sz="2000" b="1"/>
              <a:t>Hipoteza 1:  Przewaga MTL nad STL</a:t>
            </a:r>
            <a:endParaRPr sz="2000" b="1"/>
          </a:p>
        </p:txBody>
      </p:sp>
      <p:sp>
        <p:nvSpPr>
          <p:cNvPr id="215" name="Google Shape;215;p35"/>
          <p:cNvSpPr txBox="1">
            <a:spLocks noGrp="1"/>
          </p:cNvSpPr>
          <p:nvPr>
            <p:ph type="body" idx="1"/>
          </p:nvPr>
        </p:nvSpPr>
        <p:spPr>
          <a:xfrm>
            <a:off x="311700" y="921075"/>
            <a:ext cx="8520600" cy="14193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None/>
            </a:pPr>
            <a:r>
              <a:rPr lang="pl" sz="1500">
                <a:solidFill>
                  <a:schemeClr val="dk1"/>
                </a:solidFill>
              </a:rPr>
              <a:t>Przeprowadzone przez nas testy pokazały, że przewaga MTL nad STL jest zależna od wielu czynników i osiągnięcie znacznej poprawy jest zadaniem niełatwym, szczególnie korzystając ze stosunkowo prostych architektur nie odbiegających znacznie od modeli wykorzystywanych przy STL. W większości przypadków wyniki MTL okazywały się bardzo zbliżone do tych uzyskanych w modelach STL.</a:t>
            </a:r>
            <a:endParaRPr sz="1500">
              <a:solidFill>
                <a:schemeClr val="dk1"/>
              </a:solidFill>
            </a:endParaRPr>
          </a:p>
        </p:txBody>
      </p:sp>
      <p:sp>
        <p:nvSpPr>
          <p:cNvPr id="216" name="Google Shape;216;p35"/>
          <p:cNvSpPr txBox="1">
            <a:spLocks noGrp="1"/>
          </p:cNvSpPr>
          <p:nvPr>
            <p:ph type="title"/>
          </p:nvPr>
        </p:nvSpPr>
        <p:spPr>
          <a:xfrm>
            <a:off x="335362" y="2270263"/>
            <a:ext cx="8520600" cy="82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l" sz="2000" b="1"/>
              <a:t>Hipoteza 2: Transfer wiedzy między powiązanymi biologicznie parametrami </a:t>
            </a:r>
            <a:endParaRPr sz="2000" b="1"/>
          </a:p>
        </p:txBody>
      </p:sp>
      <p:sp>
        <p:nvSpPr>
          <p:cNvPr id="217" name="Google Shape;217;p35"/>
          <p:cNvSpPr txBox="1">
            <a:spLocks noGrp="1"/>
          </p:cNvSpPr>
          <p:nvPr>
            <p:ph type="body" idx="1"/>
          </p:nvPr>
        </p:nvSpPr>
        <p:spPr>
          <a:xfrm>
            <a:off x="319354" y="2930424"/>
            <a:ext cx="8520600" cy="1419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pl" sz="1500">
                <a:solidFill>
                  <a:schemeClr val="dk1"/>
                </a:solidFill>
              </a:rPr>
              <a:t>Dobranie odpowiedniego zestawu cząsteczek okazuje się zadaniem trudniejszym niż początkowo zakładaliśmy, a jednocześnie ma bardzo duże znaczenie dla wyników. Pozornie niezwiązane biologicznie cząsteczki mogą mieć inny związek np. jakiś element budowy który sprawia że ich połączenie daje dobry wynik. Poprawny dobór wymaga dużej wiedzy biochemicznej.</a:t>
            </a:r>
            <a:endParaRPr sz="15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Złożoność problemu ADMET </a:t>
            </a:r>
            <a:endParaRPr b="1"/>
          </a:p>
        </p:txBody>
      </p:sp>
      <p:sp>
        <p:nvSpPr>
          <p:cNvPr id="223" name="Google Shape;223;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pl" sz="1400" b="1">
                <a:solidFill>
                  <a:schemeClr val="dk1"/>
                </a:solidFill>
              </a:rPr>
              <a:t>Główny wniosek: Nie ma jednego, uniwersalnego schematu. </a:t>
            </a:r>
            <a:r>
              <a:rPr lang="pl" sz="1400">
                <a:solidFill>
                  <a:schemeClr val="dk1"/>
                </a:solidFill>
              </a:rPr>
              <a:t> Odpowiedź na postawione hipotezy brzmi więc: </a:t>
            </a:r>
            <a:r>
              <a:rPr lang="pl" sz="1400" b="1">
                <a:solidFill>
                  <a:schemeClr val="dk1"/>
                </a:solidFill>
              </a:rPr>
              <a:t>to zależy</a:t>
            </a:r>
            <a:r>
              <a:rPr lang="pl" sz="1400">
                <a:solidFill>
                  <a:schemeClr val="dk1"/>
                </a:solidFill>
              </a:rPr>
              <a:t>. Proces modelowania właściwości ADMET jest niezwykle złożony, a na końcowy sukces wpływa ogromna liczba zazębiających się czynników:</a:t>
            </a:r>
            <a:endParaRPr sz="1400">
              <a:solidFill>
                <a:schemeClr val="dk1"/>
              </a:solidFill>
            </a:endParaRPr>
          </a:p>
          <a:p>
            <a:pPr marL="457200" lvl="0" indent="-317500" algn="l" rtl="0">
              <a:spcBef>
                <a:spcPts val="1200"/>
              </a:spcBef>
              <a:spcAft>
                <a:spcPts val="0"/>
              </a:spcAft>
              <a:buClr>
                <a:schemeClr val="dk1"/>
              </a:buClr>
              <a:buSzPts val="1400"/>
              <a:buChar char="●"/>
            </a:pPr>
            <a:r>
              <a:rPr lang="pl" sz="1400" b="1">
                <a:solidFill>
                  <a:schemeClr val="dk1"/>
                </a:solidFill>
              </a:rPr>
              <a:t>Biologia i chemia:</a:t>
            </a:r>
            <a:r>
              <a:rPr lang="pl" sz="1400">
                <a:solidFill>
                  <a:schemeClr val="dk1"/>
                </a:solidFill>
              </a:rPr>
              <a:t> Specyfika badanej cechy molekularnej.</a:t>
            </a:r>
            <a:endParaRPr sz="1400">
              <a:solidFill>
                <a:schemeClr val="dk1"/>
              </a:solidFill>
            </a:endParaRPr>
          </a:p>
          <a:p>
            <a:pPr marL="457200" lvl="0" indent="-317500" algn="l" rtl="0">
              <a:spcBef>
                <a:spcPts val="0"/>
              </a:spcBef>
              <a:spcAft>
                <a:spcPts val="0"/>
              </a:spcAft>
              <a:buClr>
                <a:schemeClr val="dk1"/>
              </a:buClr>
              <a:buSzPts val="1400"/>
              <a:buChar char="●"/>
            </a:pPr>
            <a:r>
              <a:rPr lang="pl" sz="1400" b="1">
                <a:solidFill>
                  <a:schemeClr val="dk1"/>
                </a:solidFill>
              </a:rPr>
              <a:t>Zbiory danych:</a:t>
            </a:r>
            <a:r>
              <a:rPr lang="pl" sz="1400">
                <a:solidFill>
                  <a:schemeClr val="dk1"/>
                </a:solidFill>
              </a:rPr>
              <a:t> Dysproporcje w wielkości klas i brakujące etykiety laboratoryjne.</a:t>
            </a:r>
            <a:endParaRPr sz="1400">
              <a:solidFill>
                <a:schemeClr val="dk1"/>
              </a:solidFill>
            </a:endParaRPr>
          </a:p>
          <a:p>
            <a:pPr marL="457200" lvl="0" indent="-317500" algn="l" rtl="0">
              <a:spcBef>
                <a:spcPts val="0"/>
              </a:spcBef>
              <a:spcAft>
                <a:spcPts val="0"/>
              </a:spcAft>
              <a:buClr>
                <a:schemeClr val="dk1"/>
              </a:buClr>
              <a:buSzPts val="1400"/>
              <a:buChar char="●"/>
            </a:pPr>
            <a:r>
              <a:rPr lang="pl" sz="1400" b="1">
                <a:solidFill>
                  <a:schemeClr val="dk1"/>
                </a:solidFill>
              </a:rPr>
              <a:t>Matematyka modeli:</a:t>
            </a:r>
            <a:r>
              <a:rPr lang="pl" sz="1400">
                <a:solidFill>
                  <a:schemeClr val="dk1"/>
                </a:solidFill>
              </a:rPr>
              <a:t> Unikalna charakterystyka konkretnej reprezentacji i algorytmu.</a:t>
            </a:r>
            <a:endParaRPr sz="1400">
              <a:solidFill>
                <a:schemeClr val="dk1"/>
              </a:solidFill>
            </a:endParaRPr>
          </a:p>
          <a:p>
            <a:pPr marL="0" lvl="0" indent="0" algn="l" rtl="0">
              <a:spcBef>
                <a:spcPts val="1200"/>
              </a:spcBef>
              <a:spcAft>
                <a:spcPts val="0"/>
              </a:spcAft>
              <a:buNone/>
            </a:pPr>
            <a:r>
              <a:rPr lang="pl" sz="1400" b="1">
                <a:solidFill>
                  <a:schemeClr val="dk1"/>
                </a:solidFill>
              </a:rPr>
              <a:t>Zakres i ograniczenia badań:</a:t>
            </a:r>
            <a:r>
              <a:rPr lang="pl" sz="1400">
                <a:solidFill>
                  <a:schemeClr val="dk1"/>
                </a:solidFill>
              </a:rPr>
              <a:t> Pełne przeanalizowanie każdej z tych zależności wymagałoby dogłębnej analizy setek pojedynczych wyników oraz przeprowadzenia dodatkowych eksperymentów. Ze względu na ramy czasowe i potrzebną specjalistyczną wiedzę ekspercką. </a:t>
            </a:r>
            <a:endParaRPr sz="1400">
              <a:solidFill>
                <a:schemeClr val="dk1"/>
              </a:solidFill>
            </a:endParaRPr>
          </a:p>
          <a:p>
            <a:pPr marL="0" lvl="0" indent="0" algn="l" rtl="0">
              <a:lnSpc>
                <a:spcPct val="100000"/>
              </a:lnSpc>
              <a:spcBef>
                <a:spcPts val="1200"/>
              </a:spcBef>
              <a:spcAft>
                <a:spcPts val="0"/>
              </a:spcAft>
              <a:buClr>
                <a:schemeClr val="dk1"/>
              </a:buClr>
              <a:buSzPts val="1100"/>
              <a:buFont typeface="Arial"/>
              <a:buNone/>
            </a:pPr>
            <a:endParaRPr sz="1400" i="1">
              <a:solidFill>
                <a:schemeClr val="dk1"/>
              </a:solidFill>
            </a:endParaRPr>
          </a:p>
          <a:p>
            <a:pPr marL="0" lvl="0" indent="0" algn="l" rtl="0">
              <a:spcBef>
                <a:spcPts val="0"/>
              </a:spcBef>
              <a:spcAft>
                <a:spcPts val="1200"/>
              </a:spcAft>
              <a:buNone/>
            </a:pPr>
            <a:endParaRPr sz="1400">
              <a:solidFill>
                <a:schemeClr val="dk1"/>
              </a:solidFill>
            </a:endParaRPr>
          </a:p>
        </p:txBody>
      </p:sp>
      <p:sp>
        <p:nvSpPr>
          <p:cNvPr id="224" name="Google Shape;224;p36"/>
          <p:cNvSpPr txBox="1"/>
          <p:nvPr/>
        </p:nvSpPr>
        <p:spPr>
          <a:xfrm>
            <a:off x="3033600" y="4025475"/>
            <a:ext cx="5747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l">
                <a:solidFill>
                  <a:schemeClr val="dk1"/>
                </a:solidFill>
              </a:rPr>
              <a:t>Na kolejnych slajdach zebraliśmy najciekawsze obserwacje związane z tymi hipotezami z przeprowadzonych przez nas eksperymentów.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pl" sz="2420" b="1"/>
              <a:t>Znacząca poprawa: Half-life </a:t>
            </a:r>
            <a:endParaRPr sz="2420" b="1"/>
          </a:p>
        </p:txBody>
      </p:sp>
      <p:sp>
        <p:nvSpPr>
          <p:cNvPr id="230" name="Google Shape;230;p37"/>
          <p:cNvSpPr txBox="1">
            <a:spLocks noGrp="1"/>
          </p:cNvSpPr>
          <p:nvPr>
            <p:ph type="body" idx="1"/>
          </p:nvPr>
        </p:nvSpPr>
        <p:spPr>
          <a:xfrm>
            <a:off x="248125" y="976383"/>
            <a:ext cx="54990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688"/>
              <a:buNone/>
            </a:pPr>
            <a:r>
              <a:rPr lang="pl" sz="1425" b="1">
                <a:solidFill>
                  <a:schemeClr val="dk1"/>
                </a:solidFill>
              </a:rPr>
              <a:t>Half-Life</a:t>
            </a:r>
            <a:r>
              <a:rPr lang="pl" sz="1425">
                <a:solidFill>
                  <a:schemeClr val="dk1"/>
                </a:solidFill>
              </a:rPr>
              <a:t> (~667 cząsteczek - mały zbiór): czas, w którym stężenie leku w osoczu spada o połowę. </a:t>
            </a:r>
            <a:endParaRPr sz="1425">
              <a:solidFill>
                <a:schemeClr val="dk1"/>
              </a:solidFill>
            </a:endParaRPr>
          </a:p>
          <a:p>
            <a:pPr marL="0" lvl="0" indent="0" algn="l" rtl="0">
              <a:lnSpc>
                <a:spcPct val="95000"/>
              </a:lnSpc>
              <a:spcBef>
                <a:spcPts val="1200"/>
              </a:spcBef>
              <a:spcAft>
                <a:spcPts val="0"/>
              </a:spcAft>
              <a:buSzPts val="688"/>
              <a:buNone/>
            </a:pPr>
            <a:r>
              <a:rPr lang="pl" sz="1425">
                <a:solidFill>
                  <a:schemeClr val="dk1"/>
                </a:solidFill>
              </a:rPr>
              <a:t>Zestaw MTL: </a:t>
            </a:r>
            <a:r>
              <a:rPr lang="pl" sz="1425" b="1">
                <a:solidFill>
                  <a:schemeClr val="dk1"/>
                </a:solidFill>
              </a:rPr>
              <a:t>Half-Life + Clearance + VDss + CYP3A4 </a:t>
            </a:r>
            <a:r>
              <a:rPr lang="pl" sz="1425">
                <a:solidFill>
                  <a:schemeClr val="dk1"/>
                </a:solidFill>
              </a:rPr>
              <a:t>(powiązane procesy eliminacji i metabolizmu)</a:t>
            </a:r>
            <a:endParaRPr sz="1425">
              <a:solidFill>
                <a:schemeClr val="dk1"/>
              </a:solidFill>
            </a:endParaRPr>
          </a:p>
          <a:p>
            <a:pPr marL="0" lvl="0" indent="0" algn="l" rtl="0">
              <a:lnSpc>
                <a:spcPct val="95000"/>
              </a:lnSpc>
              <a:spcBef>
                <a:spcPts val="1200"/>
              </a:spcBef>
              <a:spcAft>
                <a:spcPts val="0"/>
              </a:spcAft>
              <a:buSzPts val="688"/>
              <a:buNone/>
            </a:pPr>
            <a:r>
              <a:rPr lang="pl" sz="1425">
                <a:solidFill>
                  <a:schemeClr val="dk1"/>
                </a:solidFill>
              </a:rPr>
              <a:t>NN + Embeddings: Half-life </a:t>
            </a:r>
            <a:r>
              <a:rPr lang="pl" sz="1425" b="1">
                <a:solidFill>
                  <a:schemeClr val="dk1"/>
                </a:solidFill>
              </a:rPr>
              <a:t>93.53 -&gt; 83.04 (poprawa ~11%)</a:t>
            </a:r>
            <a:endParaRPr sz="1425" b="1">
              <a:solidFill>
                <a:schemeClr val="dk1"/>
              </a:solidFill>
            </a:endParaRPr>
          </a:p>
          <a:p>
            <a:pPr marL="0" lvl="0" indent="0" algn="l" rtl="0">
              <a:lnSpc>
                <a:spcPct val="95000"/>
              </a:lnSpc>
              <a:spcBef>
                <a:spcPts val="1200"/>
              </a:spcBef>
              <a:spcAft>
                <a:spcPts val="0"/>
              </a:spcAft>
              <a:buSzPts val="688"/>
              <a:buNone/>
            </a:pPr>
            <a:r>
              <a:rPr lang="pl" sz="1425">
                <a:solidFill>
                  <a:schemeClr val="dk1"/>
                </a:solidFill>
              </a:rPr>
              <a:t>Pozostałe: Clearance 36,6 -&gt; 50.5, VDss 7.5 -&gt; 10.9, CYP3A4 0.879-&gt; .0.860</a:t>
            </a:r>
            <a:endParaRPr sz="1425">
              <a:solidFill>
                <a:schemeClr val="dk1"/>
              </a:solidFill>
            </a:endParaRPr>
          </a:p>
          <a:p>
            <a:pPr marL="0" lvl="0" indent="0" algn="l" rtl="0">
              <a:lnSpc>
                <a:spcPct val="95000"/>
              </a:lnSpc>
              <a:spcBef>
                <a:spcPts val="1200"/>
              </a:spcBef>
              <a:spcAft>
                <a:spcPts val="0"/>
              </a:spcAft>
              <a:buSzPts val="688"/>
              <a:buNone/>
            </a:pPr>
            <a:r>
              <a:rPr lang="pl" sz="1425">
                <a:solidFill>
                  <a:schemeClr val="dk1"/>
                </a:solidFill>
              </a:rPr>
              <a:t>RF + Descriptors: Half-life </a:t>
            </a:r>
            <a:r>
              <a:rPr lang="pl" sz="1425" b="1">
                <a:solidFill>
                  <a:schemeClr val="dk1"/>
                </a:solidFill>
              </a:rPr>
              <a:t>111.14 -&gt; 104.93 (poprawa ~6%)</a:t>
            </a:r>
            <a:endParaRPr sz="1425" b="1">
              <a:solidFill>
                <a:schemeClr val="dk1"/>
              </a:solidFill>
            </a:endParaRPr>
          </a:p>
          <a:p>
            <a:pPr marL="0" lvl="0" indent="0" algn="l" rtl="0">
              <a:lnSpc>
                <a:spcPct val="95000"/>
              </a:lnSpc>
              <a:spcBef>
                <a:spcPts val="1200"/>
              </a:spcBef>
              <a:spcAft>
                <a:spcPts val="0"/>
              </a:spcAft>
              <a:buClr>
                <a:schemeClr val="dk1"/>
              </a:buClr>
              <a:buSzPts val="688"/>
              <a:buFont typeface="Arial"/>
              <a:buNone/>
            </a:pPr>
            <a:r>
              <a:rPr lang="pl" sz="1425">
                <a:solidFill>
                  <a:schemeClr val="dk1"/>
                </a:solidFill>
              </a:rPr>
              <a:t>Pozostałe: CYP3A4 0.817-&gt; 0.828, VDss 7.44 -&gt; 6.59, Clearance 47.5 -&gt; 49.8</a:t>
            </a:r>
            <a:endParaRPr sz="1425">
              <a:solidFill>
                <a:schemeClr val="dk1"/>
              </a:solidFill>
            </a:endParaRPr>
          </a:p>
          <a:p>
            <a:pPr marL="0" lvl="0" indent="0" algn="l" rtl="0">
              <a:lnSpc>
                <a:spcPct val="95000"/>
              </a:lnSpc>
              <a:spcBef>
                <a:spcPts val="1200"/>
              </a:spcBef>
              <a:spcAft>
                <a:spcPts val="0"/>
              </a:spcAft>
              <a:buSzPts val="688"/>
              <a:buNone/>
            </a:pPr>
            <a:endParaRPr sz="1425">
              <a:solidFill>
                <a:schemeClr val="dk1"/>
              </a:solidFill>
            </a:endParaRPr>
          </a:p>
          <a:p>
            <a:pPr marL="0" lvl="0" indent="0" algn="l" rtl="0">
              <a:lnSpc>
                <a:spcPct val="95000"/>
              </a:lnSpc>
              <a:spcBef>
                <a:spcPts val="1200"/>
              </a:spcBef>
              <a:spcAft>
                <a:spcPts val="0"/>
              </a:spcAft>
              <a:buSzPts val="688"/>
              <a:buNone/>
            </a:pPr>
            <a:endParaRPr sz="1425">
              <a:solidFill>
                <a:schemeClr val="dk1"/>
              </a:solidFill>
            </a:endParaRPr>
          </a:p>
          <a:p>
            <a:pPr marL="0" lvl="0" indent="0" algn="l" rtl="0">
              <a:lnSpc>
                <a:spcPct val="95000"/>
              </a:lnSpc>
              <a:spcBef>
                <a:spcPts val="1200"/>
              </a:spcBef>
              <a:spcAft>
                <a:spcPts val="0"/>
              </a:spcAft>
              <a:buSzPts val="688"/>
              <a:buNone/>
            </a:pPr>
            <a:endParaRPr sz="1425">
              <a:solidFill>
                <a:schemeClr val="dk1"/>
              </a:solidFill>
            </a:endParaRPr>
          </a:p>
          <a:p>
            <a:pPr marL="457200" lvl="0" indent="0" algn="l" rtl="0">
              <a:lnSpc>
                <a:spcPct val="95000"/>
              </a:lnSpc>
              <a:spcBef>
                <a:spcPts val="1200"/>
              </a:spcBef>
              <a:spcAft>
                <a:spcPts val="1200"/>
              </a:spcAft>
              <a:buSzPts val="688"/>
              <a:buNone/>
            </a:pPr>
            <a:endParaRPr sz="1425">
              <a:solidFill>
                <a:schemeClr val="dk1"/>
              </a:solidFill>
            </a:endParaRPr>
          </a:p>
        </p:txBody>
      </p:sp>
      <p:pic>
        <p:nvPicPr>
          <p:cNvPr id="231" name="Google Shape;231;p37"/>
          <p:cNvPicPr preferRelativeResize="0"/>
          <p:nvPr/>
        </p:nvPicPr>
        <p:blipFill>
          <a:blip r:embed="rId3">
            <a:alphaModFix/>
          </a:blip>
          <a:stretch>
            <a:fillRect/>
          </a:stretch>
        </p:blipFill>
        <p:spPr>
          <a:xfrm>
            <a:off x="5747025" y="1664875"/>
            <a:ext cx="3320524" cy="2514050"/>
          </a:xfrm>
          <a:prstGeom prst="rect">
            <a:avLst/>
          </a:prstGeom>
          <a:noFill/>
          <a:ln>
            <a:noFill/>
          </a:ln>
        </p:spPr>
      </p:pic>
      <p:sp>
        <p:nvSpPr>
          <p:cNvPr id="232" name="Google Shape;232;p37"/>
          <p:cNvSpPr txBox="1"/>
          <p:nvPr/>
        </p:nvSpPr>
        <p:spPr>
          <a:xfrm>
            <a:off x="2977500" y="4235825"/>
            <a:ext cx="5854800" cy="809700"/>
          </a:xfrm>
          <a:prstGeom prst="rect">
            <a:avLst/>
          </a:prstGeom>
          <a:noFill/>
          <a:ln>
            <a:noFill/>
          </a:ln>
        </p:spPr>
        <p:txBody>
          <a:bodyPr spcFirstLastPara="1" wrap="square" lIns="91425" tIns="91425" rIns="91425" bIns="91425" anchor="t" anchorCtr="0">
            <a:spAutoFit/>
          </a:bodyPr>
          <a:lstStyle/>
          <a:p>
            <a:pPr marL="0" lvl="0" indent="0" algn="l" rtl="0">
              <a:lnSpc>
                <a:spcPct val="95000"/>
              </a:lnSpc>
              <a:spcBef>
                <a:spcPts val="0"/>
              </a:spcBef>
              <a:spcAft>
                <a:spcPts val="1200"/>
              </a:spcAft>
              <a:buNone/>
            </a:pPr>
            <a:r>
              <a:rPr lang="pl" sz="1425" b="1">
                <a:solidFill>
                  <a:schemeClr val="dk1"/>
                </a:solidFill>
              </a:rPr>
              <a:t>Wniosek</a:t>
            </a:r>
            <a:r>
              <a:rPr lang="pl" sz="1425">
                <a:solidFill>
                  <a:schemeClr val="dk1"/>
                </a:solidFill>
              </a:rPr>
              <a:t>: dołożenie endpointów opisujących tę samą farmakokinetykę eliminacji wyraźnie poprawia predykcję okresu półtrwania. Potwierdza hipotezy 1 i 2.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8"/>
          <p:cNvSpPr txBox="1">
            <a:spLocks noGrp="1"/>
          </p:cNvSpPr>
          <p:nvPr>
            <p:ph type="title"/>
          </p:nvPr>
        </p:nvSpPr>
        <p:spPr>
          <a:xfrm>
            <a:off x="200100" y="40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l" sz="2500" b="1"/>
              <a:t>Kolejne powiązane pary</a:t>
            </a:r>
            <a:endParaRPr b="1"/>
          </a:p>
        </p:txBody>
      </p:sp>
      <p:sp>
        <p:nvSpPr>
          <p:cNvPr id="238" name="Google Shape;238;p38"/>
          <p:cNvSpPr txBox="1">
            <a:spLocks noGrp="1"/>
          </p:cNvSpPr>
          <p:nvPr>
            <p:ph type="body" idx="1"/>
          </p:nvPr>
        </p:nvSpPr>
        <p:spPr>
          <a:xfrm>
            <a:off x="200100" y="1152475"/>
            <a:ext cx="49119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688"/>
              <a:buFont typeface="Arial"/>
              <a:buNone/>
            </a:pPr>
            <a:r>
              <a:rPr lang="pl" sz="1325" b="1">
                <a:solidFill>
                  <a:schemeClr val="dk1"/>
                </a:solidFill>
              </a:rPr>
              <a:t>Para metaboliczna: CYP3A4 + Half-Life</a:t>
            </a:r>
            <a:endParaRPr sz="1325" b="1">
              <a:solidFill>
                <a:schemeClr val="dk1"/>
              </a:solidFill>
            </a:endParaRPr>
          </a:p>
          <a:p>
            <a:pPr marL="0" lvl="0" indent="0" algn="l" rtl="0">
              <a:lnSpc>
                <a:spcPct val="95000"/>
              </a:lnSpc>
              <a:spcBef>
                <a:spcPts val="0"/>
              </a:spcBef>
              <a:spcAft>
                <a:spcPts val="0"/>
              </a:spcAft>
              <a:buClr>
                <a:schemeClr val="dk1"/>
              </a:buClr>
              <a:buSzPts val="688"/>
              <a:buFont typeface="Arial"/>
              <a:buNone/>
            </a:pPr>
            <a:r>
              <a:rPr lang="pl" sz="1325">
                <a:solidFill>
                  <a:schemeClr val="dk1"/>
                </a:solidFill>
              </a:rPr>
              <a:t>Enzym CYP3A4 metabolizuje ~50% leków, więc bezpośrednio determinuje szybkość eliminacji i okres półtrwania.</a:t>
            </a:r>
            <a:endParaRPr sz="1325">
              <a:solidFill>
                <a:schemeClr val="dk1"/>
              </a:solidFill>
            </a:endParaRPr>
          </a:p>
          <a:p>
            <a:pPr marL="0" lvl="0" indent="0" algn="l" rtl="0">
              <a:lnSpc>
                <a:spcPct val="95000"/>
              </a:lnSpc>
              <a:spcBef>
                <a:spcPts val="1200"/>
              </a:spcBef>
              <a:spcAft>
                <a:spcPts val="0"/>
              </a:spcAft>
              <a:buClr>
                <a:schemeClr val="dk1"/>
              </a:buClr>
              <a:buSzPts val="688"/>
              <a:buFont typeface="Arial"/>
              <a:buNone/>
            </a:pPr>
            <a:r>
              <a:rPr lang="pl" sz="1325">
                <a:solidFill>
                  <a:schemeClr val="dk1"/>
                </a:solidFill>
              </a:rPr>
              <a:t>RF + Desc:  Half-Life RMSE 111.14 -&gt; 105.04  |  CYP3A4 AUROC 0.8172 -&gt; 0.8189   (poprawa obu)</a:t>
            </a:r>
            <a:endParaRPr sz="1325">
              <a:solidFill>
                <a:schemeClr val="dk1"/>
              </a:solidFill>
            </a:endParaRPr>
          </a:p>
          <a:p>
            <a:pPr marL="12700" lvl="0" indent="0" algn="l" rtl="0">
              <a:lnSpc>
                <a:spcPct val="95000"/>
              </a:lnSpc>
              <a:spcBef>
                <a:spcPts val="1200"/>
              </a:spcBef>
              <a:spcAft>
                <a:spcPts val="0"/>
              </a:spcAft>
              <a:buSzPts val="688"/>
              <a:buNone/>
            </a:pPr>
            <a:r>
              <a:rPr lang="pl" sz="1325" b="1">
                <a:solidFill>
                  <a:schemeClr val="dk1"/>
                </a:solidFill>
              </a:rPr>
              <a:t>Para fizykochemiczna: Lipophilicity + Solubility</a:t>
            </a:r>
            <a:endParaRPr sz="1325" b="1">
              <a:solidFill>
                <a:schemeClr val="dk1"/>
              </a:solidFill>
            </a:endParaRPr>
          </a:p>
          <a:p>
            <a:pPr marL="12700" lvl="0" indent="0" algn="l" rtl="0">
              <a:lnSpc>
                <a:spcPct val="95000"/>
              </a:lnSpc>
              <a:spcBef>
                <a:spcPts val="0"/>
              </a:spcBef>
              <a:spcAft>
                <a:spcPts val="0"/>
              </a:spcAft>
              <a:buSzPts val="688"/>
              <a:buNone/>
            </a:pPr>
            <a:r>
              <a:rPr lang="pl" sz="1325">
                <a:solidFill>
                  <a:schemeClr val="dk1"/>
                </a:solidFill>
              </a:rPr>
              <a:t>Lipofilowość i rozpuszczalność wodna opisują to samo zachowanie podziału cząsteczki między fazy.</a:t>
            </a:r>
            <a:endParaRPr sz="1325">
              <a:solidFill>
                <a:schemeClr val="dk1"/>
              </a:solidFill>
            </a:endParaRPr>
          </a:p>
          <a:p>
            <a:pPr marL="12700" lvl="0" indent="0" algn="l" rtl="0">
              <a:lnSpc>
                <a:spcPct val="95000"/>
              </a:lnSpc>
              <a:spcBef>
                <a:spcPts val="0"/>
              </a:spcBef>
              <a:spcAft>
                <a:spcPts val="0"/>
              </a:spcAft>
              <a:buClr>
                <a:schemeClr val="dk1"/>
              </a:buClr>
              <a:buSzPts val="688"/>
              <a:buFont typeface="Arial"/>
              <a:buNone/>
            </a:pPr>
            <a:endParaRPr sz="1325">
              <a:solidFill>
                <a:schemeClr val="dk1"/>
              </a:solidFill>
            </a:endParaRPr>
          </a:p>
          <a:p>
            <a:pPr marL="12700" lvl="0" indent="0" algn="l" rtl="0">
              <a:lnSpc>
                <a:spcPct val="95000"/>
              </a:lnSpc>
              <a:spcBef>
                <a:spcPts val="0"/>
              </a:spcBef>
              <a:spcAft>
                <a:spcPts val="0"/>
              </a:spcAft>
              <a:buSzPts val="688"/>
              <a:buNone/>
            </a:pPr>
            <a:r>
              <a:rPr lang="pl" sz="1325">
                <a:solidFill>
                  <a:schemeClr val="dk1"/>
                </a:solidFill>
              </a:rPr>
              <a:t>RF + Desc:  Lipo RMSE 0.8902 -&gt; 0.8671  |  Solubility RMSE 1.1236 -&gt; 1.1102   (poprawa obu)</a:t>
            </a:r>
            <a:endParaRPr sz="1325">
              <a:solidFill>
                <a:schemeClr val="dk1"/>
              </a:solidFill>
            </a:endParaRPr>
          </a:p>
          <a:p>
            <a:pPr marL="12700" lvl="0" indent="0" algn="l" rtl="0">
              <a:lnSpc>
                <a:spcPct val="95000"/>
              </a:lnSpc>
              <a:spcBef>
                <a:spcPts val="0"/>
              </a:spcBef>
              <a:spcAft>
                <a:spcPts val="0"/>
              </a:spcAft>
              <a:buClr>
                <a:schemeClr val="dk1"/>
              </a:buClr>
              <a:buSzPts val="688"/>
              <a:buFont typeface="Arial"/>
              <a:buNone/>
            </a:pPr>
            <a:endParaRPr sz="1325">
              <a:solidFill>
                <a:schemeClr val="dk1"/>
              </a:solidFill>
            </a:endParaRPr>
          </a:p>
          <a:p>
            <a:pPr marL="0" lvl="0" indent="0" algn="l" rtl="0">
              <a:lnSpc>
                <a:spcPct val="95000"/>
              </a:lnSpc>
              <a:spcBef>
                <a:spcPts val="0"/>
              </a:spcBef>
              <a:spcAft>
                <a:spcPts val="1200"/>
              </a:spcAft>
              <a:buSzPts val="688"/>
              <a:buNone/>
            </a:pPr>
            <a:endParaRPr sz="1325">
              <a:solidFill>
                <a:schemeClr val="dk1"/>
              </a:solidFill>
            </a:endParaRPr>
          </a:p>
        </p:txBody>
      </p:sp>
      <p:sp>
        <p:nvSpPr>
          <p:cNvPr id="239" name="Google Shape;239;p38"/>
          <p:cNvSpPr txBox="1"/>
          <p:nvPr/>
        </p:nvSpPr>
        <p:spPr>
          <a:xfrm>
            <a:off x="2859400" y="4447550"/>
            <a:ext cx="6788400" cy="615000"/>
          </a:xfrm>
          <a:prstGeom prst="rect">
            <a:avLst/>
          </a:prstGeom>
          <a:noFill/>
          <a:ln>
            <a:noFill/>
          </a:ln>
        </p:spPr>
        <p:txBody>
          <a:bodyPr spcFirstLastPara="1" wrap="square" lIns="91425" tIns="91425" rIns="91425" bIns="91425" anchor="t" anchorCtr="0">
            <a:spAutoFit/>
          </a:bodyPr>
          <a:lstStyle/>
          <a:p>
            <a:pPr marL="12700" lvl="0" indent="0" algn="l" rtl="0">
              <a:lnSpc>
                <a:spcPct val="115000"/>
              </a:lnSpc>
              <a:spcBef>
                <a:spcPts val="0"/>
              </a:spcBef>
              <a:spcAft>
                <a:spcPts val="0"/>
              </a:spcAft>
              <a:buNone/>
            </a:pPr>
            <a:r>
              <a:rPr lang="pl" sz="1300">
                <a:solidFill>
                  <a:schemeClr val="dk1"/>
                </a:solidFill>
              </a:rPr>
              <a:t>Oba przykłady potwierdzają Hipotezę 2: </a:t>
            </a:r>
            <a:endParaRPr sz="1300">
              <a:solidFill>
                <a:schemeClr val="dk1"/>
              </a:solidFill>
            </a:endParaRPr>
          </a:p>
          <a:p>
            <a:pPr marL="12700" lvl="0" indent="0" algn="l" rtl="0">
              <a:lnSpc>
                <a:spcPct val="115000"/>
              </a:lnSpc>
              <a:spcBef>
                <a:spcPts val="0"/>
              </a:spcBef>
              <a:spcAft>
                <a:spcPts val="0"/>
              </a:spcAft>
              <a:buNone/>
            </a:pPr>
            <a:r>
              <a:rPr lang="pl" sz="1300">
                <a:solidFill>
                  <a:schemeClr val="dk1"/>
                </a:solidFill>
              </a:rPr>
              <a:t>powiązanie biologiczne/fizykochemiczne sprzyja transferowi wiedzy. </a:t>
            </a:r>
            <a:endParaRPr sz="1300">
              <a:solidFill>
                <a:schemeClr val="dk1"/>
              </a:solidFill>
            </a:endParaRPr>
          </a:p>
        </p:txBody>
      </p:sp>
      <p:pic>
        <p:nvPicPr>
          <p:cNvPr id="240" name="Google Shape;240;p38"/>
          <p:cNvPicPr preferRelativeResize="0"/>
          <p:nvPr/>
        </p:nvPicPr>
        <p:blipFill>
          <a:blip r:embed="rId3">
            <a:alphaModFix/>
          </a:blip>
          <a:stretch>
            <a:fillRect/>
          </a:stretch>
        </p:blipFill>
        <p:spPr>
          <a:xfrm>
            <a:off x="5207600" y="2712252"/>
            <a:ext cx="2898774" cy="1798775"/>
          </a:xfrm>
          <a:prstGeom prst="rect">
            <a:avLst/>
          </a:prstGeom>
          <a:noFill/>
          <a:ln>
            <a:noFill/>
          </a:ln>
        </p:spPr>
      </p:pic>
      <p:pic>
        <p:nvPicPr>
          <p:cNvPr id="241" name="Google Shape;241;p38"/>
          <p:cNvPicPr preferRelativeResize="0"/>
          <p:nvPr/>
        </p:nvPicPr>
        <p:blipFill>
          <a:blip r:embed="rId4">
            <a:alphaModFix/>
          </a:blip>
          <a:stretch>
            <a:fillRect/>
          </a:stretch>
        </p:blipFill>
        <p:spPr>
          <a:xfrm>
            <a:off x="5207625" y="977725"/>
            <a:ext cx="2898714" cy="17987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9"/>
          <p:cNvSpPr txBox="1">
            <a:spLocks noGrp="1"/>
          </p:cNvSpPr>
          <p:nvPr>
            <p:ph type="title"/>
          </p:nvPr>
        </p:nvSpPr>
        <p:spPr>
          <a:xfrm>
            <a:off x="263675"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pl" sz="2420" b="1"/>
              <a:t>Pułapka powiązania : Half-life i AMES</a:t>
            </a:r>
            <a:endParaRPr sz="2420" b="1"/>
          </a:p>
        </p:txBody>
      </p:sp>
      <p:sp>
        <p:nvSpPr>
          <p:cNvPr id="247" name="Google Shape;247;p39"/>
          <p:cNvSpPr txBox="1">
            <a:spLocks noGrp="1"/>
          </p:cNvSpPr>
          <p:nvPr>
            <p:ph type="body" idx="1"/>
          </p:nvPr>
        </p:nvSpPr>
        <p:spPr>
          <a:xfrm>
            <a:off x="245475" y="929050"/>
            <a:ext cx="5306700" cy="97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l" sz="1400">
                <a:solidFill>
                  <a:schemeClr val="dk1"/>
                </a:solidFill>
              </a:rPr>
              <a:t>Zaskoczenie: </a:t>
            </a:r>
            <a:r>
              <a:rPr lang="pl" sz="1400" b="1">
                <a:solidFill>
                  <a:schemeClr val="dk1"/>
                </a:solidFill>
              </a:rPr>
              <a:t>Half life + AMES </a:t>
            </a:r>
            <a:endParaRPr sz="1400" b="1">
              <a:solidFill>
                <a:schemeClr val="dk1"/>
              </a:solidFill>
            </a:endParaRPr>
          </a:p>
          <a:p>
            <a:pPr marL="0" lvl="0" indent="0" algn="l" rtl="0">
              <a:lnSpc>
                <a:spcPct val="115000"/>
              </a:lnSpc>
              <a:spcBef>
                <a:spcPts val="1200"/>
              </a:spcBef>
              <a:spcAft>
                <a:spcPts val="0"/>
              </a:spcAft>
              <a:buNone/>
            </a:pPr>
            <a:r>
              <a:rPr lang="pl" sz="1400">
                <a:solidFill>
                  <a:schemeClr val="dk1"/>
                </a:solidFill>
              </a:rPr>
              <a:t>RF + Desc:  Half-Life 111.14 -&gt;109.08, AMES 0.866 → 0.867 </a:t>
            </a:r>
            <a:endParaRPr sz="1400">
              <a:solidFill>
                <a:schemeClr val="dk1"/>
              </a:solidFill>
            </a:endParaRPr>
          </a:p>
          <a:p>
            <a:pPr marL="0" lvl="0" indent="0" algn="l" rtl="0">
              <a:lnSpc>
                <a:spcPct val="115000"/>
              </a:lnSpc>
              <a:spcBef>
                <a:spcPts val="0"/>
              </a:spcBef>
              <a:spcAft>
                <a:spcPts val="0"/>
              </a:spcAft>
              <a:buNone/>
            </a:pPr>
            <a:r>
              <a:rPr lang="pl" sz="1400">
                <a:solidFill>
                  <a:schemeClr val="dk1"/>
                </a:solidFill>
              </a:rPr>
              <a:t>NN + Emb:  Half-Life 93.53 -&gt; 92.93, AMES 0.881 -&gt; 0.857</a:t>
            </a:r>
            <a:endParaRPr sz="1400">
              <a:solidFill>
                <a:schemeClr val="dk1"/>
              </a:solidFill>
            </a:endParaRPr>
          </a:p>
          <a:p>
            <a:pPr marL="457200" lvl="0" indent="0" algn="l" rtl="0">
              <a:lnSpc>
                <a:spcPct val="115000"/>
              </a:lnSpc>
              <a:spcBef>
                <a:spcPts val="1200"/>
              </a:spcBef>
              <a:spcAft>
                <a:spcPts val="0"/>
              </a:spcAft>
              <a:buNone/>
            </a:pPr>
            <a:endParaRPr sz="1400"/>
          </a:p>
          <a:p>
            <a:pPr marL="0" lvl="0" indent="0" algn="l" rtl="0">
              <a:spcBef>
                <a:spcPts val="1200"/>
              </a:spcBef>
              <a:spcAft>
                <a:spcPts val="0"/>
              </a:spcAft>
              <a:buNone/>
            </a:pPr>
            <a:endParaRPr sz="1400">
              <a:solidFill>
                <a:schemeClr val="dk1"/>
              </a:solidFill>
            </a:endParaRPr>
          </a:p>
          <a:p>
            <a:pPr marL="0" lvl="0" indent="0" algn="l" rtl="0">
              <a:spcBef>
                <a:spcPts val="1200"/>
              </a:spcBef>
              <a:spcAft>
                <a:spcPts val="0"/>
              </a:spcAft>
              <a:buNone/>
            </a:pPr>
            <a:endParaRPr sz="1400">
              <a:solidFill>
                <a:schemeClr val="dk1"/>
              </a:solidFill>
            </a:endParaRPr>
          </a:p>
          <a:p>
            <a:pPr marL="0" lvl="0" indent="0" algn="l" rtl="0">
              <a:spcBef>
                <a:spcPts val="1200"/>
              </a:spcBef>
              <a:spcAft>
                <a:spcPts val="1200"/>
              </a:spcAft>
              <a:buNone/>
            </a:pPr>
            <a:endParaRPr sz="1400"/>
          </a:p>
        </p:txBody>
      </p:sp>
      <p:pic>
        <p:nvPicPr>
          <p:cNvPr id="248" name="Google Shape;248;p39"/>
          <p:cNvPicPr preferRelativeResize="0"/>
          <p:nvPr/>
        </p:nvPicPr>
        <p:blipFill>
          <a:blip r:embed="rId3">
            <a:alphaModFix/>
          </a:blip>
          <a:stretch>
            <a:fillRect/>
          </a:stretch>
        </p:blipFill>
        <p:spPr>
          <a:xfrm>
            <a:off x="5552150" y="1696000"/>
            <a:ext cx="3415875" cy="2586225"/>
          </a:xfrm>
          <a:prstGeom prst="rect">
            <a:avLst/>
          </a:prstGeom>
          <a:noFill/>
          <a:ln>
            <a:noFill/>
          </a:ln>
        </p:spPr>
      </p:pic>
      <p:sp>
        <p:nvSpPr>
          <p:cNvPr id="249" name="Google Shape;249;p39"/>
          <p:cNvSpPr txBox="1"/>
          <p:nvPr/>
        </p:nvSpPr>
        <p:spPr>
          <a:xfrm>
            <a:off x="271679" y="1921713"/>
            <a:ext cx="5386800" cy="213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pl">
                <a:solidFill>
                  <a:schemeClr val="dk1"/>
                </a:solidFill>
              </a:rPr>
              <a:t>Na pierwszy rzut oka parametry te wydają się biologicznie niezwiązane: </a:t>
            </a:r>
            <a:r>
              <a:rPr lang="pl" b="1">
                <a:solidFill>
                  <a:schemeClr val="dk1"/>
                </a:solidFill>
              </a:rPr>
              <a:t>AMES</a:t>
            </a:r>
            <a:r>
              <a:rPr lang="pl">
                <a:solidFill>
                  <a:schemeClr val="dk1"/>
                </a:solidFill>
              </a:rPr>
              <a:t> bada zdolności mutagenne leku, podczas gdy </a:t>
            </a:r>
            <a:r>
              <a:rPr lang="pl" b="1">
                <a:solidFill>
                  <a:schemeClr val="dk1"/>
                </a:solidFill>
              </a:rPr>
              <a:t>Half-life</a:t>
            </a:r>
            <a:r>
              <a:rPr lang="pl">
                <a:solidFill>
                  <a:schemeClr val="dk1"/>
                </a:solidFill>
              </a:rPr>
              <a:t> opisuje czas jego eliminacji z organizmu.Wspólnym mianownikiem jest jednak </a:t>
            </a:r>
            <a:r>
              <a:rPr lang="pl" b="1">
                <a:solidFill>
                  <a:schemeClr val="dk1"/>
                </a:solidFill>
              </a:rPr>
              <a:t>reaktywność chemiczna cząsteczki</a:t>
            </a:r>
            <a:r>
              <a:rPr lang="pl">
                <a:solidFill>
                  <a:schemeClr val="dk1"/>
                </a:solidFill>
              </a:rPr>
              <a:t>. Ta sama cecha budowy, która sprawia, że cząsteczka jest mutagenna (AMES), sprawia też często, że jest niestabilna metabolicznie, co drastycznie skraca jej czas życia w organizmie (Half-life).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183625" y="413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pl" sz="2420" b="1"/>
              <a:t>Podwójna poprawa: HIA + Caco-2</a:t>
            </a:r>
            <a:endParaRPr sz="2420" b="1"/>
          </a:p>
        </p:txBody>
      </p:sp>
      <p:sp>
        <p:nvSpPr>
          <p:cNvPr id="255" name="Google Shape;255;p40"/>
          <p:cNvSpPr txBox="1">
            <a:spLocks noGrp="1"/>
          </p:cNvSpPr>
          <p:nvPr>
            <p:ph type="body" idx="1"/>
          </p:nvPr>
        </p:nvSpPr>
        <p:spPr>
          <a:xfrm>
            <a:off x="216117" y="1136550"/>
            <a:ext cx="4674300" cy="34164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Clr>
                <a:schemeClr val="dk1"/>
              </a:buClr>
              <a:buSzPts val="1018"/>
              <a:buFont typeface="Arial"/>
              <a:buNone/>
            </a:pPr>
            <a:r>
              <a:rPr lang="pl" sz="1449">
                <a:solidFill>
                  <a:schemeClr val="dk1"/>
                </a:solidFill>
              </a:rPr>
              <a:t>HIA i Caco-2 opisują ten sam proces - </a:t>
            </a:r>
            <a:r>
              <a:rPr lang="pl" sz="1449" b="1">
                <a:solidFill>
                  <a:schemeClr val="dk1"/>
                </a:solidFill>
              </a:rPr>
              <a:t>wchłanianie w jelitach</a:t>
            </a:r>
            <a:r>
              <a:rPr lang="pl" sz="1449">
                <a:solidFill>
                  <a:schemeClr val="dk1"/>
                </a:solidFill>
              </a:rPr>
              <a:t>. Caco-2 mierzy przepuszczalność błony komórkowej, HIA realne wchłanianie leku do krwi.</a:t>
            </a:r>
            <a:endParaRPr sz="1449">
              <a:solidFill>
                <a:schemeClr val="dk1"/>
              </a:solidFill>
            </a:endParaRPr>
          </a:p>
          <a:p>
            <a:pPr marL="0" lvl="0" indent="0" algn="l" rtl="0">
              <a:lnSpc>
                <a:spcPct val="105000"/>
              </a:lnSpc>
              <a:spcBef>
                <a:spcPts val="1200"/>
              </a:spcBef>
              <a:spcAft>
                <a:spcPts val="0"/>
              </a:spcAft>
              <a:buClr>
                <a:schemeClr val="dk1"/>
              </a:buClr>
              <a:buSzPts val="1018"/>
              <a:buFont typeface="Arial"/>
              <a:buNone/>
            </a:pPr>
            <a:endParaRPr sz="449">
              <a:solidFill>
                <a:schemeClr val="dk1"/>
              </a:solidFill>
            </a:endParaRPr>
          </a:p>
          <a:p>
            <a:pPr marL="0" lvl="0" indent="0" algn="l" rtl="0">
              <a:lnSpc>
                <a:spcPct val="105000"/>
              </a:lnSpc>
              <a:spcBef>
                <a:spcPts val="0"/>
              </a:spcBef>
              <a:spcAft>
                <a:spcPts val="0"/>
              </a:spcAft>
              <a:buClr>
                <a:schemeClr val="dk1"/>
              </a:buClr>
              <a:buSzPts val="1018"/>
              <a:buFont typeface="Arial"/>
              <a:buNone/>
            </a:pPr>
            <a:r>
              <a:rPr lang="pl" sz="1449">
                <a:solidFill>
                  <a:schemeClr val="dk1"/>
                </a:solidFill>
              </a:rPr>
              <a:t>NN + Embeddings:  </a:t>
            </a:r>
            <a:endParaRPr sz="1449">
              <a:solidFill>
                <a:schemeClr val="dk1"/>
              </a:solidFill>
            </a:endParaRPr>
          </a:p>
          <a:p>
            <a:pPr marL="0" lvl="0" indent="0" algn="l" rtl="0">
              <a:lnSpc>
                <a:spcPct val="105000"/>
              </a:lnSpc>
              <a:spcBef>
                <a:spcPts val="0"/>
              </a:spcBef>
              <a:spcAft>
                <a:spcPts val="0"/>
              </a:spcAft>
              <a:buClr>
                <a:schemeClr val="dk1"/>
              </a:buClr>
              <a:buSzPts val="1018"/>
              <a:buFont typeface="Arial"/>
              <a:buNone/>
            </a:pPr>
            <a:r>
              <a:rPr lang="pl" sz="1449">
                <a:solidFill>
                  <a:schemeClr val="dk1"/>
                </a:solidFill>
              </a:rPr>
              <a:t>HIA AUROC 0.9881 -&gt; 0.9935 </a:t>
            </a:r>
            <a:r>
              <a:rPr lang="pl" sz="1425" b="1">
                <a:solidFill>
                  <a:schemeClr val="dk1"/>
                </a:solidFill>
              </a:rPr>
              <a:t>(poprawa ~0.5%)</a:t>
            </a:r>
            <a:r>
              <a:rPr lang="pl" sz="1449">
                <a:solidFill>
                  <a:schemeClr val="dk1"/>
                </a:solidFill>
              </a:rPr>
              <a:t>  </a:t>
            </a:r>
            <a:endParaRPr sz="1449">
              <a:solidFill>
                <a:schemeClr val="dk1"/>
              </a:solidFill>
            </a:endParaRPr>
          </a:p>
          <a:p>
            <a:pPr marL="0" lvl="0" indent="0" algn="l" rtl="0">
              <a:lnSpc>
                <a:spcPct val="105000"/>
              </a:lnSpc>
              <a:spcBef>
                <a:spcPts val="0"/>
              </a:spcBef>
              <a:spcAft>
                <a:spcPts val="0"/>
              </a:spcAft>
              <a:buClr>
                <a:schemeClr val="dk1"/>
              </a:buClr>
              <a:buSzPts val="1018"/>
              <a:buFont typeface="Arial"/>
              <a:buNone/>
            </a:pPr>
            <a:r>
              <a:rPr lang="pl" sz="1449">
                <a:solidFill>
                  <a:schemeClr val="dk1"/>
                </a:solidFill>
              </a:rPr>
              <a:t>Caco-2 RMSE 0.4768 -&gt; 0.4716  </a:t>
            </a:r>
            <a:r>
              <a:rPr lang="pl" sz="1425" b="1">
                <a:solidFill>
                  <a:schemeClr val="dk1"/>
                </a:solidFill>
              </a:rPr>
              <a:t>(poprawa ~1.1%)</a:t>
            </a:r>
            <a:endParaRPr sz="1449">
              <a:solidFill>
                <a:schemeClr val="dk1"/>
              </a:solidFill>
            </a:endParaRPr>
          </a:p>
          <a:p>
            <a:pPr marL="0" lvl="0" indent="0" algn="l" rtl="0">
              <a:lnSpc>
                <a:spcPct val="105000"/>
              </a:lnSpc>
              <a:spcBef>
                <a:spcPts val="0"/>
              </a:spcBef>
              <a:spcAft>
                <a:spcPts val="0"/>
              </a:spcAft>
              <a:buClr>
                <a:schemeClr val="dk1"/>
              </a:buClr>
              <a:buSzPts val="1018"/>
              <a:buFont typeface="Arial"/>
              <a:buNone/>
            </a:pPr>
            <a:endParaRPr sz="1449">
              <a:solidFill>
                <a:schemeClr val="dk1"/>
              </a:solidFill>
            </a:endParaRPr>
          </a:p>
          <a:p>
            <a:pPr marL="0" lvl="0" indent="0" algn="l" rtl="0">
              <a:lnSpc>
                <a:spcPct val="105000"/>
              </a:lnSpc>
              <a:spcBef>
                <a:spcPts val="0"/>
              </a:spcBef>
              <a:spcAft>
                <a:spcPts val="0"/>
              </a:spcAft>
              <a:buClr>
                <a:schemeClr val="dk1"/>
              </a:buClr>
              <a:buSzPts val="1018"/>
              <a:buFont typeface="Arial"/>
              <a:buNone/>
            </a:pPr>
            <a:r>
              <a:rPr lang="pl" sz="1449">
                <a:solidFill>
                  <a:schemeClr val="dk1"/>
                </a:solidFill>
              </a:rPr>
              <a:t>RF + Descriptors:  </a:t>
            </a:r>
            <a:endParaRPr sz="1449">
              <a:solidFill>
                <a:schemeClr val="dk1"/>
              </a:solidFill>
            </a:endParaRPr>
          </a:p>
          <a:p>
            <a:pPr marL="0" lvl="0" indent="0" algn="l" rtl="0">
              <a:lnSpc>
                <a:spcPct val="105000"/>
              </a:lnSpc>
              <a:spcBef>
                <a:spcPts val="0"/>
              </a:spcBef>
              <a:spcAft>
                <a:spcPts val="0"/>
              </a:spcAft>
              <a:buClr>
                <a:schemeClr val="dk1"/>
              </a:buClr>
              <a:buSzPts val="1018"/>
              <a:buFont typeface="Arial"/>
              <a:buNone/>
            </a:pPr>
            <a:r>
              <a:rPr lang="pl" sz="1449">
                <a:solidFill>
                  <a:schemeClr val="dk1"/>
                </a:solidFill>
              </a:rPr>
              <a:t>HIA AUROC 0.8890 -&gt; 0.9718 </a:t>
            </a:r>
            <a:r>
              <a:rPr lang="pl" sz="1425" b="1">
                <a:solidFill>
                  <a:schemeClr val="dk1"/>
                </a:solidFill>
              </a:rPr>
              <a:t>(poprawa ~9.3%)</a:t>
            </a:r>
            <a:endParaRPr sz="1449">
              <a:solidFill>
                <a:schemeClr val="dk1"/>
              </a:solidFill>
            </a:endParaRPr>
          </a:p>
          <a:p>
            <a:pPr marL="0" lvl="0" indent="0" algn="l" rtl="0">
              <a:lnSpc>
                <a:spcPct val="105000"/>
              </a:lnSpc>
              <a:spcBef>
                <a:spcPts val="0"/>
              </a:spcBef>
              <a:spcAft>
                <a:spcPts val="0"/>
              </a:spcAft>
              <a:buClr>
                <a:schemeClr val="dk1"/>
              </a:buClr>
              <a:buSzPts val="1018"/>
              <a:buFont typeface="Arial"/>
              <a:buNone/>
            </a:pPr>
            <a:r>
              <a:rPr lang="pl" sz="1449">
                <a:solidFill>
                  <a:schemeClr val="dk1"/>
                </a:solidFill>
              </a:rPr>
              <a:t>Caco-2 RMSE 0.4652 -&gt; 0.4432 </a:t>
            </a:r>
            <a:r>
              <a:rPr lang="pl" sz="1425" b="1">
                <a:solidFill>
                  <a:schemeClr val="dk1"/>
                </a:solidFill>
              </a:rPr>
              <a:t>(poprawa ~4.7%)</a:t>
            </a:r>
            <a:endParaRPr sz="1449">
              <a:solidFill>
                <a:schemeClr val="dk1"/>
              </a:solidFill>
            </a:endParaRPr>
          </a:p>
          <a:p>
            <a:pPr marL="0" lvl="0" indent="0" algn="l" rtl="0">
              <a:lnSpc>
                <a:spcPct val="105000"/>
              </a:lnSpc>
              <a:spcBef>
                <a:spcPts val="0"/>
              </a:spcBef>
              <a:spcAft>
                <a:spcPts val="0"/>
              </a:spcAft>
              <a:buSzPts val="1018"/>
              <a:buNone/>
            </a:pPr>
            <a:endParaRPr sz="1449">
              <a:solidFill>
                <a:schemeClr val="dk1"/>
              </a:solidFill>
            </a:endParaRPr>
          </a:p>
          <a:p>
            <a:pPr marL="457200" lvl="0" indent="0" algn="l" rtl="0">
              <a:lnSpc>
                <a:spcPct val="105000"/>
              </a:lnSpc>
              <a:spcBef>
                <a:spcPts val="1200"/>
              </a:spcBef>
              <a:spcAft>
                <a:spcPts val="1200"/>
              </a:spcAft>
              <a:buSzPts val="1018"/>
              <a:buNone/>
            </a:pPr>
            <a:endParaRPr sz="1449">
              <a:solidFill>
                <a:schemeClr val="dk1"/>
              </a:solidFill>
            </a:endParaRPr>
          </a:p>
        </p:txBody>
      </p:sp>
      <p:pic>
        <p:nvPicPr>
          <p:cNvPr id="256" name="Google Shape;256;p40"/>
          <p:cNvPicPr preferRelativeResize="0"/>
          <p:nvPr/>
        </p:nvPicPr>
        <p:blipFill>
          <a:blip r:embed="rId3">
            <a:alphaModFix/>
          </a:blip>
          <a:stretch>
            <a:fillRect/>
          </a:stretch>
        </p:blipFill>
        <p:spPr>
          <a:xfrm>
            <a:off x="5042817" y="1601125"/>
            <a:ext cx="3948782" cy="268749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pl" sz="2420" b="1"/>
              <a:t>Zależność wyników od modelu</a:t>
            </a:r>
            <a:endParaRPr sz="2420" b="1"/>
          </a:p>
        </p:txBody>
      </p:sp>
      <p:sp>
        <p:nvSpPr>
          <p:cNvPr id="262" name="Google Shape;262;p41"/>
          <p:cNvSpPr txBox="1">
            <a:spLocks noGrp="1"/>
          </p:cNvSpPr>
          <p:nvPr>
            <p:ph type="body" idx="1"/>
          </p:nvPr>
        </p:nvSpPr>
        <p:spPr>
          <a:xfrm>
            <a:off x="426400" y="1152475"/>
            <a:ext cx="50037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pl" sz="1400" b="1">
                <a:solidFill>
                  <a:schemeClr val="dk1"/>
                </a:solidFill>
              </a:rPr>
              <a:t>Analiza zestawu: Lipophilicity + Solubility + hERG</a:t>
            </a:r>
            <a:endParaRPr sz="1400" b="1">
              <a:solidFill>
                <a:schemeClr val="dk1"/>
              </a:solidFill>
            </a:endParaRPr>
          </a:p>
          <a:p>
            <a:pPr marL="457200" lvl="0" indent="-317500" algn="l" rtl="0">
              <a:spcBef>
                <a:spcPts val="1200"/>
              </a:spcBef>
              <a:spcAft>
                <a:spcPts val="0"/>
              </a:spcAft>
              <a:buClr>
                <a:schemeClr val="dk1"/>
              </a:buClr>
              <a:buSzPts val="1400"/>
              <a:buChar char="●"/>
            </a:pPr>
            <a:r>
              <a:rPr lang="pl" sz="1400" b="1">
                <a:solidFill>
                  <a:schemeClr val="dk1"/>
                </a:solidFill>
              </a:rPr>
              <a:t>Sieci Neuronowe:</a:t>
            </a:r>
            <a:r>
              <a:rPr lang="pl" sz="1400">
                <a:solidFill>
                  <a:schemeClr val="dk1"/>
                </a:solidFill>
              </a:rPr>
              <a:t> Tryb wielozadaniowy poprawia predykcję dla hERG z poziomu </a:t>
            </a:r>
            <a:r>
              <a:rPr lang="pl" sz="1400" b="1">
                <a:solidFill>
                  <a:schemeClr val="dk1"/>
                </a:solidFill>
              </a:rPr>
              <a:t>0.869</a:t>
            </a:r>
            <a:r>
              <a:rPr lang="pl" sz="1400">
                <a:solidFill>
                  <a:schemeClr val="dk1"/>
                </a:solidFill>
              </a:rPr>
              <a:t> do </a:t>
            </a:r>
            <a:r>
              <a:rPr lang="pl" sz="1400" b="1">
                <a:solidFill>
                  <a:schemeClr val="dk1"/>
                </a:solidFill>
              </a:rPr>
              <a:t>0.872</a:t>
            </a:r>
            <a:r>
              <a:rPr lang="pl" sz="1400">
                <a:solidFill>
                  <a:schemeClr val="dk1"/>
                </a:solidFill>
              </a:rPr>
              <a:t>. </a:t>
            </a:r>
            <a:endParaRPr sz="1400">
              <a:solidFill>
                <a:schemeClr val="dk1"/>
              </a:solidFill>
            </a:endParaRPr>
          </a:p>
          <a:p>
            <a:pPr marL="457200" lvl="0" indent="-317500" algn="l" rtl="0">
              <a:spcBef>
                <a:spcPts val="0"/>
              </a:spcBef>
              <a:spcAft>
                <a:spcPts val="0"/>
              </a:spcAft>
              <a:buClr>
                <a:schemeClr val="dk1"/>
              </a:buClr>
              <a:buSzPts val="1400"/>
              <a:buChar char="●"/>
            </a:pPr>
            <a:r>
              <a:rPr lang="pl" sz="1400" b="1">
                <a:solidFill>
                  <a:schemeClr val="dk1"/>
                </a:solidFill>
              </a:rPr>
              <a:t>Random Forest : Przeniesienie korzyści.</a:t>
            </a:r>
            <a:r>
              <a:rPr lang="pl" sz="1400">
                <a:solidFill>
                  <a:schemeClr val="dk1"/>
                </a:solidFill>
              </a:rPr>
              <a:t> Wynik hERG spada (</a:t>
            </a:r>
            <a:r>
              <a:rPr lang="pl" sz="1400" b="1">
                <a:solidFill>
                  <a:schemeClr val="dk1"/>
                </a:solidFill>
              </a:rPr>
              <a:t>0.833 → 0.829</a:t>
            </a:r>
            <a:r>
              <a:rPr lang="pl" sz="1400">
                <a:solidFill>
                  <a:schemeClr val="dk1"/>
                </a:solidFill>
              </a:rPr>
              <a:t>), a tryb MTL poprawia pozostałe dwa parametry:</a:t>
            </a:r>
            <a:endParaRPr sz="1400">
              <a:solidFill>
                <a:schemeClr val="dk1"/>
              </a:solidFill>
            </a:endParaRPr>
          </a:p>
          <a:p>
            <a:pPr marL="914400" lvl="1" indent="-317500" algn="l" rtl="0">
              <a:spcBef>
                <a:spcPts val="0"/>
              </a:spcBef>
              <a:spcAft>
                <a:spcPts val="0"/>
              </a:spcAft>
              <a:buClr>
                <a:schemeClr val="dk1"/>
              </a:buClr>
              <a:buSzPts val="1400"/>
              <a:buChar char="○"/>
            </a:pPr>
            <a:r>
              <a:rPr lang="pl" b="1">
                <a:solidFill>
                  <a:schemeClr val="dk1"/>
                </a:solidFill>
              </a:rPr>
              <a:t>Lipophilicity:</a:t>
            </a:r>
            <a:r>
              <a:rPr lang="pl">
                <a:solidFill>
                  <a:schemeClr val="dk1"/>
                </a:solidFill>
              </a:rPr>
              <a:t> poprawa RMSE z </a:t>
            </a:r>
            <a:r>
              <a:rPr lang="pl" b="1">
                <a:solidFill>
                  <a:schemeClr val="dk1"/>
                </a:solidFill>
              </a:rPr>
              <a:t>0.890</a:t>
            </a:r>
            <a:r>
              <a:rPr lang="pl">
                <a:solidFill>
                  <a:schemeClr val="dk1"/>
                </a:solidFill>
              </a:rPr>
              <a:t> na </a:t>
            </a:r>
            <a:r>
              <a:rPr lang="pl" b="1">
                <a:solidFill>
                  <a:schemeClr val="dk1"/>
                </a:solidFill>
              </a:rPr>
              <a:t>0.868</a:t>
            </a:r>
            <a:r>
              <a:rPr lang="pl">
                <a:solidFill>
                  <a:schemeClr val="dk1"/>
                </a:solidFill>
              </a:rPr>
              <a:t>.</a:t>
            </a:r>
            <a:endParaRPr>
              <a:solidFill>
                <a:schemeClr val="dk1"/>
              </a:solidFill>
            </a:endParaRPr>
          </a:p>
          <a:p>
            <a:pPr marL="914400" lvl="1" indent="-317500" algn="l" rtl="0">
              <a:spcBef>
                <a:spcPts val="0"/>
              </a:spcBef>
              <a:spcAft>
                <a:spcPts val="0"/>
              </a:spcAft>
              <a:buClr>
                <a:schemeClr val="dk1"/>
              </a:buClr>
              <a:buSzPts val="1400"/>
              <a:buChar char="○"/>
            </a:pPr>
            <a:r>
              <a:rPr lang="pl" b="1">
                <a:solidFill>
                  <a:schemeClr val="dk1"/>
                </a:solidFill>
              </a:rPr>
              <a:t>Solubility:</a:t>
            </a:r>
            <a:r>
              <a:rPr lang="pl">
                <a:solidFill>
                  <a:schemeClr val="dk1"/>
                </a:solidFill>
              </a:rPr>
              <a:t> poprawa RMSE z </a:t>
            </a:r>
            <a:r>
              <a:rPr lang="pl" b="1">
                <a:solidFill>
                  <a:schemeClr val="dk1"/>
                </a:solidFill>
              </a:rPr>
              <a:t>1.124</a:t>
            </a:r>
            <a:r>
              <a:rPr lang="pl">
                <a:solidFill>
                  <a:schemeClr val="dk1"/>
                </a:solidFill>
              </a:rPr>
              <a:t> na </a:t>
            </a:r>
            <a:r>
              <a:rPr lang="pl" b="1">
                <a:solidFill>
                  <a:schemeClr val="dk1"/>
                </a:solidFill>
              </a:rPr>
              <a:t>1.110</a:t>
            </a:r>
            <a:r>
              <a:rPr lang="pl">
                <a:solidFill>
                  <a:schemeClr val="dk1"/>
                </a:solidFill>
              </a:rPr>
              <a:t>.</a:t>
            </a:r>
            <a:endParaRPr>
              <a:solidFill>
                <a:schemeClr val="dk1"/>
              </a:solidFill>
            </a:endParaRPr>
          </a:p>
          <a:p>
            <a:pPr marL="0" lvl="0" indent="0" algn="l" rtl="0">
              <a:spcBef>
                <a:spcPts val="1200"/>
              </a:spcBef>
              <a:spcAft>
                <a:spcPts val="0"/>
              </a:spcAft>
              <a:buClr>
                <a:schemeClr val="dk1"/>
              </a:buClr>
              <a:buSzPts val="1100"/>
              <a:buFont typeface="Arial"/>
              <a:buNone/>
            </a:pPr>
            <a:r>
              <a:rPr lang="pl" sz="1400" b="1">
                <a:solidFill>
                  <a:schemeClr val="dk1"/>
                </a:solidFill>
              </a:rPr>
              <a:t>Wniosek:</a:t>
            </a:r>
            <a:r>
              <a:rPr lang="pl" sz="1400">
                <a:solidFill>
                  <a:schemeClr val="dk1"/>
                </a:solidFill>
              </a:rPr>
              <a:t> To, czy tryb MTL przyniesie korzyść konkretnej własności, jest </a:t>
            </a:r>
            <a:r>
              <a:rPr lang="pl" sz="1400" b="1">
                <a:solidFill>
                  <a:schemeClr val="dk1"/>
                </a:solidFill>
              </a:rPr>
              <a:t>ściśle uzależnione od modelu</a:t>
            </a:r>
            <a:r>
              <a:rPr lang="pl" sz="1400">
                <a:solidFill>
                  <a:schemeClr val="dk1"/>
                </a:solidFill>
              </a:rPr>
              <a:t> </a:t>
            </a:r>
            <a:r>
              <a:rPr lang="pl" sz="1400" b="1">
                <a:solidFill>
                  <a:schemeClr val="dk1"/>
                </a:solidFill>
              </a:rPr>
              <a:t>i reprezentacji. </a:t>
            </a:r>
            <a:endParaRPr sz="1400" b="1">
              <a:solidFill>
                <a:schemeClr val="dk1"/>
              </a:solidFill>
            </a:endParaRPr>
          </a:p>
          <a:p>
            <a:pPr marL="457200" lvl="0" indent="0" algn="l" rtl="0">
              <a:spcBef>
                <a:spcPts val="1200"/>
              </a:spcBef>
              <a:spcAft>
                <a:spcPts val="1200"/>
              </a:spcAft>
              <a:buNone/>
            </a:pPr>
            <a:endParaRPr sz="1400">
              <a:solidFill>
                <a:schemeClr val="dk1"/>
              </a:solidFill>
            </a:endParaRPr>
          </a:p>
        </p:txBody>
      </p:sp>
      <p:pic>
        <p:nvPicPr>
          <p:cNvPr id="263" name="Google Shape;263;p41"/>
          <p:cNvPicPr preferRelativeResize="0"/>
          <p:nvPr/>
        </p:nvPicPr>
        <p:blipFill>
          <a:blip r:embed="rId3">
            <a:alphaModFix/>
          </a:blip>
          <a:stretch>
            <a:fillRect/>
          </a:stretch>
        </p:blipFill>
        <p:spPr>
          <a:xfrm>
            <a:off x="5315250" y="1412350"/>
            <a:ext cx="3517049" cy="26522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Więcej nie znaczy lepiej </a:t>
            </a:r>
            <a:endParaRPr b="1"/>
          </a:p>
        </p:txBody>
      </p:sp>
      <p:sp>
        <p:nvSpPr>
          <p:cNvPr id="269" name="Google Shape;269;p42"/>
          <p:cNvSpPr txBox="1">
            <a:spLocks noGrp="1"/>
          </p:cNvSpPr>
          <p:nvPr>
            <p:ph type="body" idx="1"/>
          </p:nvPr>
        </p:nvSpPr>
        <p:spPr>
          <a:xfrm>
            <a:off x="216125" y="1016404"/>
            <a:ext cx="45864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pl" sz="1400">
                <a:solidFill>
                  <a:schemeClr val="dk1"/>
                </a:solidFill>
              </a:rPr>
              <a:t>Połączenie hERG z pojedynczym endpointem przynosi najlepsze rezultaty i widoczną poprawę względem bazy (STL = 0.869). Dorzucenie zbyt wielu endpointów (</a:t>
            </a:r>
            <a:r>
              <a:rPr lang="pl" sz="1400" i="1">
                <a:solidFill>
                  <a:schemeClr val="dk1"/>
                </a:solidFill>
              </a:rPr>
              <a:t>Lipo + Solub + VDss + hERG</a:t>
            </a:r>
            <a:r>
              <a:rPr lang="pl" sz="1400">
                <a:solidFill>
                  <a:schemeClr val="dk1"/>
                </a:solidFill>
              </a:rPr>
              <a:t>) drastycznie pogarsza jakość modelu, spychając wynik poniżej poziomu referencyjnego (</a:t>
            </a:r>
            <a:r>
              <a:rPr lang="pl" sz="1400" b="1">
                <a:solidFill>
                  <a:schemeClr val="dk1"/>
                </a:solidFill>
              </a:rPr>
              <a:t>0.864</a:t>
            </a:r>
            <a:r>
              <a:rPr lang="pl" sz="1400">
                <a:solidFill>
                  <a:schemeClr val="dk1"/>
                </a:solidFill>
              </a:rPr>
              <a:t>).</a:t>
            </a:r>
            <a:endParaRPr sz="14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pl" sz="1400">
                <a:solidFill>
                  <a:schemeClr val="dk1"/>
                </a:solidFill>
              </a:rPr>
              <a:t>Zależność ta </a:t>
            </a:r>
            <a:r>
              <a:rPr lang="pl" sz="1400" b="1">
                <a:solidFill>
                  <a:schemeClr val="dk1"/>
                </a:solidFill>
              </a:rPr>
              <a:t>nie jest monotoniczna</a:t>
            </a:r>
            <a:r>
              <a:rPr lang="pl" sz="1400">
                <a:solidFill>
                  <a:schemeClr val="dk1"/>
                </a:solidFill>
              </a:rPr>
              <a:t>. Istnieje wyraźna granica korzyści z uczenia wielozadaniowego – zbyt duża liczba zróżnicowanych endpointów wprowadza szum informacyjny i rozmywa wspólną reprezentację, zamiast wspierać model. </a:t>
            </a:r>
            <a:endParaRPr sz="1400">
              <a:solidFill>
                <a:schemeClr val="dk1"/>
              </a:solidFill>
            </a:endParaRPr>
          </a:p>
          <a:p>
            <a:pPr marL="0" lvl="0" indent="0" algn="l" rtl="0">
              <a:spcBef>
                <a:spcPts val="1200"/>
              </a:spcBef>
              <a:spcAft>
                <a:spcPts val="1200"/>
              </a:spcAft>
              <a:buNone/>
            </a:pPr>
            <a:endParaRPr sz="1400"/>
          </a:p>
        </p:txBody>
      </p:sp>
      <p:pic>
        <p:nvPicPr>
          <p:cNvPr id="270" name="Google Shape;270;p42"/>
          <p:cNvPicPr preferRelativeResize="0"/>
          <p:nvPr/>
        </p:nvPicPr>
        <p:blipFill>
          <a:blip r:embed="rId3">
            <a:alphaModFix/>
          </a:blip>
          <a:stretch>
            <a:fillRect/>
          </a:stretch>
        </p:blipFill>
        <p:spPr>
          <a:xfrm>
            <a:off x="4851625" y="1375875"/>
            <a:ext cx="4187900" cy="26182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3"/>
          <p:cNvSpPr txBox="1">
            <a:spLocks noGrp="1"/>
          </p:cNvSpPr>
          <p:nvPr>
            <p:ph type="title"/>
          </p:nvPr>
        </p:nvSpPr>
        <p:spPr>
          <a:xfrm>
            <a:off x="111675" y="40217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pl" sz="2420" b="1"/>
              <a:t>Praktyczne zastosowanie w projektowaniu leków</a:t>
            </a:r>
            <a:endParaRPr sz="2420" b="1"/>
          </a:p>
        </p:txBody>
      </p:sp>
      <p:sp>
        <p:nvSpPr>
          <p:cNvPr id="276" name="Google Shape;276;p43"/>
          <p:cNvSpPr txBox="1">
            <a:spLocks noGrp="1"/>
          </p:cNvSpPr>
          <p:nvPr>
            <p:ph type="body" idx="1"/>
          </p:nvPr>
        </p:nvSpPr>
        <p:spPr>
          <a:xfrm>
            <a:off x="349800" y="974875"/>
            <a:ext cx="8520600" cy="3416400"/>
          </a:xfrm>
          <a:prstGeom prst="rect">
            <a:avLst/>
          </a:prstGeom>
        </p:spPr>
        <p:txBody>
          <a:bodyPr spcFirstLastPara="1" wrap="square" lIns="91425" tIns="91425" rIns="91425" bIns="91425" anchor="t" anchorCtr="0">
            <a:noAutofit/>
          </a:bodyPr>
          <a:lstStyle/>
          <a:p>
            <a:pPr marL="457200" lvl="0" indent="-333375" algn="l" rtl="0">
              <a:lnSpc>
                <a:spcPct val="115000"/>
              </a:lnSpc>
              <a:spcBef>
                <a:spcPts val="0"/>
              </a:spcBef>
              <a:spcAft>
                <a:spcPts val="0"/>
              </a:spcAft>
              <a:buClr>
                <a:schemeClr val="dk1"/>
              </a:buClr>
              <a:buSzPts val="1650"/>
              <a:buChar char="●"/>
            </a:pPr>
            <a:r>
              <a:rPr lang="pl" sz="1650">
                <a:solidFill>
                  <a:schemeClr val="dk1"/>
                </a:solidFill>
              </a:rPr>
              <a:t>Wczesny </a:t>
            </a:r>
            <a:r>
              <a:rPr lang="pl" sz="1650" b="1">
                <a:solidFill>
                  <a:schemeClr val="dk1"/>
                </a:solidFill>
              </a:rPr>
              <a:t>przesiew in silico</a:t>
            </a:r>
            <a:r>
              <a:rPr lang="pl" sz="1650">
                <a:solidFill>
                  <a:schemeClr val="dk1"/>
                </a:solidFill>
              </a:rPr>
              <a:t>: priorytetyzacja tysięcy cząsteczek, zanim trafią do kosztownych badań in vitro / in vivo -&gt; mniej porażek w fazie klinicznej.</a:t>
            </a:r>
            <a:endParaRPr sz="1650">
              <a:solidFill>
                <a:schemeClr val="dk1"/>
              </a:solidFill>
            </a:endParaRPr>
          </a:p>
          <a:p>
            <a:pPr marL="457200" lvl="0" indent="-333375" algn="l" rtl="0">
              <a:lnSpc>
                <a:spcPct val="115000"/>
              </a:lnSpc>
              <a:spcBef>
                <a:spcPts val="0"/>
              </a:spcBef>
              <a:spcAft>
                <a:spcPts val="0"/>
              </a:spcAft>
              <a:buClr>
                <a:schemeClr val="dk1"/>
              </a:buClr>
              <a:buSzPts val="1650"/>
              <a:buChar char="●"/>
            </a:pPr>
            <a:r>
              <a:rPr lang="pl" sz="1650" b="1">
                <a:solidFill>
                  <a:schemeClr val="dk1"/>
                </a:solidFill>
              </a:rPr>
              <a:t>Jeden model</a:t>
            </a:r>
            <a:r>
              <a:rPr lang="pl" sz="1650">
                <a:solidFill>
                  <a:schemeClr val="dk1"/>
                </a:solidFill>
              </a:rPr>
              <a:t> = cały profil ADMET: MTL ocenia absorpcję, eliminację i toksyczność równocześnie, zamiast wielu osobnych modeli.</a:t>
            </a:r>
            <a:endParaRPr sz="1650">
              <a:solidFill>
                <a:schemeClr val="dk1"/>
              </a:solidFill>
            </a:endParaRPr>
          </a:p>
          <a:p>
            <a:pPr marL="457200" lvl="0" indent="-333375" algn="l" rtl="0">
              <a:lnSpc>
                <a:spcPct val="115000"/>
              </a:lnSpc>
              <a:spcBef>
                <a:spcPts val="0"/>
              </a:spcBef>
              <a:spcAft>
                <a:spcPts val="0"/>
              </a:spcAft>
              <a:buClr>
                <a:schemeClr val="dk1"/>
              </a:buClr>
              <a:buSzPts val="1650"/>
              <a:buChar char="●"/>
            </a:pPr>
            <a:r>
              <a:rPr lang="pl" sz="1650">
                <a:solidFill>
                  <a:schemeClr val="dk1"/>
                </a:solidFill>
              </a:rPr>
              <a:t>Największy zysk tam, gdzie brakuje danych: pokazaliśmy to wprost (Half-Life, hERG przy głodzie danych) - a małe zbiory to codzienność wczesnego etapu odkrywania leków.</a:t>
            </a:r>
            <a:endParaRPr sz="1650">
              <a:solidFill>
                <a:schemeClr val="dk1"/>
              </a:solidFill>
            </a:endParaRPr>
          </a:p>
          <a:p>
            <a:pPr marL="457200" lvl="0" indent="-333375" algn="l" rtl="0">
              <a:lnSpc>
                <a:spcPct val="115000"/>
              </a:lnSpc>
              <a:spcBef>
                <a:spcPts val="0"/>
              </a:spcBef>
              <a:spcAft>
                <a:spcPts val="0"/>
              </a:spcAft>
              <a:buClr>
                <a:schemeClr val="dk1"/>
              </a:buClr>
              <a:buSzPts val="1650"/>
              <a:buChar char="●"/>
            </a:pPr>
            <a:r>
              <a:rPr lang="pl" sz="1650">
                <a:solidFill>
                  <a:schemeClr val="dk1"/>
                </a:solidFill>
              </a:rPr>
              <a:t>Wczesne </a:t>
            </a:r>
            <a:r>
              <a:rPr lang="pl" sz="1650" b="1">
                <a:solidFill>
                  <a:schemeClr val="dk1"/>
                </a:solidFill>
              </a:rPr>
              <a:t>flagowanie bezpieczeństwa</a:t>
            </a:r>
            <a:r>
              <a:rPr lang="pl" sz="1650">
                <a:solidFill>
                  <a:schemeClr val="dk1"/>
                </a:solidFill>
              </a:rPr>
              <a:t>: predykcja hERG (kardiotoksyczność) i AMES (mutagenność) wychwytuje groźne podstruktury już na etapie projektowania.</a:t>
            </a:r>
            <a:endParaRPr sz="1650">
              <a:solidFill>
                <a:schemeClr val="dk1"/>
              </a:solidFill>
            </a:endParaRPr>
          </a:p>
          <a:p>
            <a:pPr marL="457200" lvl="0" indent="-333375" algn="l" rtl="0">
              <a:lnSpc>
                <a:spcPct val="115000"/>
              </a:lnSpc>
              <a:spcBef>
                <a:spcPts val="0"/>
              </a:spcBef>
              <a:spcAft>
                <a:spcPts val="0"/>
              </a:spcAft>
              <a:buClr>
                <a:schemeClr val="dk1"/>
              </a:buClr>
              <a:buSzPts val="1650"/>
              <a:buChar char="●"/>
            </a:pPr>
            <a:r>
              <a:rPr lang="pl" sz="1650">
                <a:solidFill>
                  <a:schemeClr val="dk1"/>
                </a:solidFill>
              </a:rPr>
              <a:t>Wsparcie decyzji farmakokinetycznych: szacunki Half-Life, klirensu i VDss wstępnie informują o dawkowaniu.</a:t>
            </a:r>
            <a:endParaRPr sz="1650">
              <a:solidFill>
                <a:schemeClr val="dk1"/>
              </a:solidFill>
            </a:endParaRPr>
          </a:p>
          <a:p>
            <a:pPr marL="914400" lvl="0" indent="0" algn="l" rtl="0">
              <a:lnSpc>
                <a:spcPct val="95000"/>
              </a:lnSpc>
              <a:spcBef>
                <a:spcPts val="0"/>
              </a:spcBef>
              <a:spcAft>
                <a:spcPts val="1200"/>
              </a:spcAft>
              <a:buNone/>
            </a:pPr>
            <a:endParaRPr sz="136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b="1"/>
              <a:t>Podsumowanie </a:t>
            </a:r>
            <a:endParaRPr b="1"/>
          </a:p>
        </p:txBody>
      </p:sp>
      <p:sp>
        <p:nvSpPr>
          <p:cNvPr id="282" name="Google Shape;282;p44"/>
          <p:cNvSpPr txBox="1">
            <a:spLocks noGrp="1"/>
          </p:cNvSpPr>
          <p:nvPr>
            <p:ph type="body" idx="1"/>
          </p:nvPr>
        </p:nvSpPr>
        <p:spPr>
          <a:xfrm>
            <a:off x="559350" y="1017725"/>
            <a:ext cx="8520600" cy="34164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Char char="●"/>
            </a:pPr>
            <a:r>
              <a:rPr lang="pl" sz="1500" b="1">
                <a:solidFill>
                  <a:schemeClr val="dk1"/>
                </a:solidFill>
              </a:rPr>
              <a:t>MTL to nie automatyczny sukces:</a:t>
            </a:r>
            <a:r>
              <a:rPr lang="pl" sz="1500">
                <a:solidFill>
                  <a:schemeClr val="dk1"/>
                </a:solidFill>
              </a:rPr>
              <a:t> W prostych konfiguracjach wyniki MTL są zbliżone do modeli STL. Pełne wykorzystanie potencjału MTL wymaga bardziej zaawansowanej architektury, a także dużej wiedzy biochemicznej aby odpowiednio dobrać połączenia endpointów. </a:t>
            </a:r>
            <a:endParaRPr sz="1200">
              <a:solidFill>
                <a:schemeClr val="dk1"/>
              </a:solidFill>
            </a:endParaRPr>
          </a:p>
          <a:p>
            <a:pPr marL="457200" lvl="0" indent="-323850" algn="l" rtl="0">
              <a:spcBef>
                <a:spcPts val="0"/>
              </a:spcBef>
              <a:spcAft>
                <a:spcPts val="0"/>
              </a:spcAft>
              <a:buClr>
                <a:schemeClr val="dk1"/>
              </a:buClr>
              <a:buSzPts val="1500"/>
              <a:buChar char="●"/>
            </a:pPr>
            <a:r>
              <a:rPr lang="pl" sz="1500" b="1">
                <a:solidFill>
                  <a:schemeClr val="dk1"/>
                </a:solidFill>
              </a:rPr>
              <a:t>Ścisła synergia modelu z reprezentacją:</a:t>
            </a:r>
            <a:r>
              <a:rPr lang="pl" sz="1500">
                <a:solidFill>
                  <a:schemeClr val="dk1"/>
                </a:solidFill>
              </a:rPr>
              <a:t> Wybór reprezentacji molekularnej musi odpowiadać naturze algorytmu. Sieci neuronowe uwalniają pełen potencjał na gęstych embeddingach (</a:t>
            </a:r>
            <a:r>
              <a:rPr lang="pl" sz="1500" i="1">
                <a:solidFill>
                  <a:schemeClr val="dk1"/>
                </a:solidFill>
              </a:rPr>
              <a:t>MolFormer</a:t>
            </a:r>
            <a:r>
              <a:rPr lang="pl" sz="1500">
                <a:solidFill>
                  <a:schemeClr val="dk1"/>
                </a:solidFill>
              </a:rPr>
              <a:t>), z kolei </a:t>
            </a:r>
            <a:r>
              <a:rPr lang="pl" sz="1500" i="1">
                <a:solidFill>
                  <a:schemeClr val="dk1"/>
                </a:solidFill>
              </a:rPr>
              <a:t>Random Forest</a:t>
            </a:r>
            <a:r>
              <a:rPr lang="pl" sz="1500">
                <a:solidFill>
                  <a:schemeClr val="dk1"/>
                </a:solidFill>
              </a:rPr>
              <a:t> w trybie MTL potrzebuje stabilnych, niskowymiarowych deskryptorów. </a:t>
            </a:r>
            <a:endParaRPr sz="1500">
              <a:solidFill>
                <a:schemeClr val="dk1"/>
              </a:solidFill>
            </a:endParaRPr>
          </a:p>
          <a:p>
            <a:pPr marL="457200" lvl="0" indent="-323850" algn="l" rtl="0">
              <a:spcBef>
                <a:spcPts val="0"/>
              </a:spcBef>
              <a:spcAft>
                <a:spcPts val="0"/>
              </a:spcAft>
              <a:buClr>
                <a:schemeClr val="dk1"/>
              </a:buClr>
              <a:buSzPts val="1500"/>
              <a:buChar char="●"/>
            </a:pPr>
            <a:r>
              <a:rPr lang="pl" sz="1500" b="1">
                <a:solidFill>
                  <a:schemeClr val="dk1"/>
                </a:solidFill>
              </a:rPr>
              <a:t>Zyski przy dobrej implementacji:</a:t>
            </a:r>
            <a:r>
              <a:rPr lang="pl" sz="1500">
                <a:solidFill>
                  <a:schemeClr val="dk1"/>
                </a:solidFill>
              </a:rPr>
              <a:t> Odpowiednio zaprojektowany model MTL potrafi poprawić predykcję małych i trudnych zbiorów (np. wzrost dokładności </a:t>
            </a:r>
            <a:r>
              <a:rPr lang="pl" sz="1500" i="1">
                <a:solidFill>
                  <a:schemeClr val="dk1"/>
                </a:solidFill>
              </a:rPr>
              <a:t>Half-Life</a:t>
            </a:r>
            <a:r>
              <a:rPr lang="pl" sz="1500">
                <a:solidFill>
                  <a:schemeClr val="dk1"/>
                </a:solidFill>
              </a:rPr>
              <a:t> aż o </a:t>
            </a:r>
            <a:r>
              <a:rPr lang="pl" sz="1500" b="1">
                <a:solidFill>
                  <a:schemeClr val="dk1"/>
                </a:solidFill>
              </a:rPr>
              <a:t>11%</a:t>
            </a:r>
            <a:r>
              <a:rPr lang="pl" sz="1500">
                <a:solidFill>
                  <a:schemeClr val="dk1"/>
                </a:solidFill>
              </a:rPr>
              <a:t>). Pozwala to na jednoczesną ocenę całego profilu ADMET w jednym modelu, przynosząc oszczędności na etapie przesiewu </a:t>
            </a:r>
            <a:r>
              <a:rPr lang="pl" sz="1500" i="1">
                <a:solidFill>
                  <a:schemeClr val="dk1"/>
                </a:solidFill>
              </a:rPr>
              <a:t>in silico</a:t>
            </a:r>
            <a:r>
              <a:rPr lang="pl" sz="1500">
                <a:solidFill>
                  <a:schemeClr val="dk1"/>
                </a:solidFill>
              </a:rPr>
              <a:t>. </a:t>
            </a:r>
            <a:endParaRPr sz="15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6"/>
        <p:cNvGrpSpPr/>
        <p:nvPr/>
      </p:nvGrpSpPr>
      <p:grpSpPr>
        <a:xfrm>
          <a:off x="0" y="0"/>
          <a:ext cx="0" cy="0"/>
          <a:chOff x="0" y="0"/>
          <a:chExt cx="0" cy="0"/>
        </a:xfrm>
      </p:grpSpPr>
      <p:sp>
        <p:nvSpPr>
          <p:cNvPr id="287" name="Google Shape;287;p45"/>
          <p:cNvSpPr txBox="1">
            <a:spLocks noGrp="1"/>
          </p:cNvSpPr>
          <p:nvPr>
            <p:ph type="title"/>
          </p:nvPr>
        </p:nvSpPr>
        <p:spPr>
          <a:xfrm>
            <a:off x="2685300" y="2285400"/>
            <a:ext cx="3773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l" sz="3200" b="1">
                <a:latin typeface="Times New Roman"/>
                <a:ea typeface="Times New Roman"/>
                <a:cs typeface="Times New Roman"/>
                <a:sym typeface="Times New Roman"/>
              </a:rPr>
              <a:t>Dziękujemy za uwagę!</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2981</Words>
  <Application>Microsoft Office PowerPoint</Application>
  <PresentationFormat>Pokaz na ekranie (16:9)</PresentationFormat>
  <Paragraphs>183</Paragraphs>
  <Slides>33</Slides>
  <Notes>33</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33</vt:i4>
      </vt:variant>
    </vt:vector>
  </HeadingPairs>
  <TitlesOfParts>
    <vt:vector size="37" baseType="lpstr">
      <vt:lpstr>Times New Roman</vt:lpstr>
      <vt:lpstr>Roboto Mono</vt:lpstr>
      <vt:lpstr>Arial</vt:lpstr>
      <vt:lpstr>Simple Light</vt:lpstr>
      <vt:lpstr>Predykcja profilu ADMET z wykorzystaniem multi-task learning </vt:lpstr>
      <vt:lpstr>ADMET: Klucz do sukcesu w projektowaniu leków </vt:lpstr>
      <vt:lpstr>Cel projektu</vt:lpstr>
      <vt:lpstr>Opis zbiorów danych</vt:lpstr>
      <vt:lpstr>Prezentacja programu PowerPoint</vt:lpstr>
      <vt:lpstr>Plan implementacji</vt:lpstr>
      <vt:lpstr>Prezentacja programu PowerPoint</vt:lpstr>
      <vt:lpstr>Budowa sieci neuronowej</vt:lpstr>
      <vt:lpstr>Problem niepełnych danych </vt:lpstr>
      <vt:lpstr>Problem niepełnych danych </vt:lpstr>
      <vt:lpstr>WYNIKI EKSPERYMENTÓW</vt:lpstr>
      <vt:lpstr>Hipoteza 4*: wpływ funkcji straty na wyniki NN</vt:lpstr>
      <vt:lpstr>Hipoteza 4*: wpływ funkcji straty na wyniki NN </vt:lpstr>
      <vt:lpstr>Hipoteza 4*: wpływ funkcji straty na wyniki NN  </vt:lpstr>
      <vt:lpstr>Hipoteza 3: wpływ reprezentacji na wyniki </vt:lpstr>
      <vt:lpstr>Reprezentacja molekularna a wyniki STL </vt:lpstr>
      <vt:lpstr>Reprezentacja molekularna a wyniki STL </vt:lpstr>
      <vt:lpstr>Reprezentacja molekularna a wyniki MTL   </vt:lpstr>
      <vt:lpstr>Reprezentacja molekularna a wyniki MTL   </vt:lpstr>
      <vt:lpstr>Hipoteza 5*: Porównanie modeli - STL </vt:lpstr>
      <vt:lpstr>Hipoteza 5*: Porównanie modeli - MTL</vt:lpstr>
      <vt:lpstr>Prezentacja programu PowerPoint</vt:lpstr>
      <vt:lpstr>Hipoteza 1:  Przewaga MTL nad STL</vt:lpstr>
      <vt:lpstr>Złożoność problemu ADMET </vt:lpstr>
      <vt:lpstr>Znacząca poprawa: Half-life </vt:lpstr>
      <vt:lpstr>Kolejne powiązane pary</vt:lpstr>
      <vt:lpstr>Pułapka powiązania : Half-life i AMES</vt:lpstr>
      <vt:lpstr>Podwójna poprawa: HIA + Caco-2</vt:lpstr>
      <vt:lpstr>Zależność wyników od modelu</vt:lpstr>
      <vt:lpstr>Więcej nie znaczy lepiej </vt:lpstr>
      <vt:lpstr>Praktyczne zastosowanie w projektowaniu leków</vt:lpstr>
      <vt:lpstr>Podsumowanie </vt:lpstr>
      <vt:lpstr>Dziękujemy za uwagę!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Jakub Cieniuch</cp:lastModifiedBy>
  <cp:revision>1</cp:revision>
  <dcterms:modified xsi:type="dcterms:W3CDTF">2026-06-14T17:15:02Z</dcterms:modified>
</cp:coreProperties>
</file>